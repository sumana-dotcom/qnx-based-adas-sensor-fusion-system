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notesMasterIdLst>
    <p:notesMasterId r:id="rId13"/>
  </p:notesMasterIdLst>
  <p:handoutMasterIdLst>
    <p:handoutMasterId r:id="rId14"/>
  </p:handoutMasterIdLst>
  <p:sldIdLst>
    <p:sldId id="2147482664" r:id="rId6"/>
    <p:sldId id="2147482657" r:id="rId7"/>
    <p:sldId id="2147482658" r:id="rId8"/>
    <p:sldId id="2147482659" r:id="rId9"/>
    <p:sldId id="2147482660" r:id="rId10"/>
    <p:sldId id="2147482662" r:id="rId11"/>
    <p:sldId id="2147482663" r:id="rId12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None/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20000"/>
      </a:lnSpc>
      <a:spcBef>
        <a:spcPts val="1500"/>
      </a:spcBef>
      <a:spcAft>
        <a:spcPts val="200"/>
      </a:spcAft>
      <a:buFont typeface="Arial" panose="020B0604020202020204" pitchFamily="34" charset="0"/>
      <a:buNone/>
      <a:defRPr sz="1800" kern="1200">
        <a:solidFill>
          <a:schemeClr val="tx1"/>
        </a:solidFill>
        <a:latin typeface="+mj-lt"/>
        <a:ea typeface="+mn-ea"/>
        <a:cs typeface="+mn-cs"/>
      </a:defRPr>
    </a:lvl2pPr>
    <a:lvl3pPr marL="18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54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Symbol" panose="05050102010706020507" pitchFamily="18" charset="2"/>
      <a:buNone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20000"/>
      </a:lnSpc>
      <a:spcBef>
        <a:spcPts val="1200"/>
      </a:spcBef>
      <a:spcAft>
        <a:spcPts val="200"/>
      </a:spcAft>
      <a:buClr>
        <a:schemeClr val="bg2"/>
      </a:buClr>
      <a:buFont typeface="Wingdings" panose="05000000000000000000" pitchFamily="2" charset="2"/>
      <a:buNone/>
      <a:defRPr sz="1400" kern="1200">
        <a:solidFill>
          <a:schemeClr val="tx1"/>
        </a:solidFill>
        <a:latin typeface="+mj-lt"/>
        <a:ea typeface="+mn-ea"/>
        <a:cs typeface="+mn-cs"/>
      </a:defRPr>
    </a:lvl7pPr>
    <a:lvl8pPr marL="108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16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ckathon Presentation" id="{E45C5319-8C0D-42C0-AD16-035793377066}">
          <p14:sldIdLst>
            <p14:sldId id="2147482664"/>
            <p14:sldId id="2147482657"/>
            <p14:sldId id="2147482658"/>
            <p14:sldId id="2147482659"/>
            <p14:sldId id="2147482660"/>
            <p14:sldId id="2147482662"/>
            <p14:sldId id="21474826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0" dt="2026-10-09T20:00:18.133"/>
  </p1510:revLst>
</p1510:revInfo>
</file>

<file path=ppt/tableStyles.xml><?xml version="1.0" encoding="utf-8"?>
<a:tblStyleLst xmlns:a="http://schemas.openxmlformats.org/drawingml/2006/main" def="{C6334807-E537-4099-9411-48B81318F7D4}">
  <a:tblStyle styleId="{C6334807-E537-4099-9411-48B81318F7D4}" styleName="QNX Table - Light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C0C0BB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chemeClr val="dk2"/>
          </a:solidFill>
        </a:fill>
      </a:tcStyle>
    </a:band1H>
    <a:band2H>
      <a:tcStyle>
        <a:tcBdr/>
        <a:fill>
          <a:noFill/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chemeClr val="dk2"/>
          </a:solidFill>
        </a:fill>
      </a:tcStyle>
    </a:band1V>
    <a:band2V>
      <a:tcStyle>
        <a:tcBdr/>
      </a:tcStyle>
    </a:band2V>
    <a:firstCol>
      <a:tcTxStyle/>
      <a:tcStyle>
        <a:tcBdr/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</a:tcStyle>
    </a:lastRow>
    <a:firstRow>
      <a:tcTxStyle>
        <a:fontRef idx="major">
          <a:prstClr val="black"/>
        </a:fontRef>
        <a:schemeClr val="dk1"/>
      </a:tcTxStyle>
      <a:tcStyle>
        <a:tcBdr>
          <a:bottom>
            <a:ln w="12700" cmpd="sng">
              <a:solidFill>
                <a:schemeClr val="dk1"/>
              </a:solidFill>
            </a:ln>
          </a:bottom>
        </a:tcBdr>
      </a:tcStyle>
    </a:firstRow>
  </a:tblStyle>
  <a:tblStyle styleId="{963D177F-057A-4F7D-8082-B162180BF664}" styleName="QNX Table - Dark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C0C0BB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rgbClr val="2F2F2D"/>
          </a:solidFill>
        </a:fill>
      </a:tcStyle>
    </a:band1H>
    <a:band2H>
      <a:tcStyle>
        <a:tcBdr/>
        <a:fill>
          <a:noFill/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rgbClr val="2F2F2D"/>
          </a:solidFill>
        </a:fill>
      </a:tcStyle>
    </a:band1V>
    <a:band2V>
      <a:tcStyle>
        <a:tcBdr/>
      </a:tcStyle>
    </a:band2V>
    <a:firstCol>
      <a:tcTxStyle/>
      <a:tcStyle>
        <a:tcBdr/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</a:tcStyle>
    </a:lastRow>
    <a:firstRow>
      <a:tcTxStyle>
        <a:fontRef idx="major">
          <a:prstClr val="black"/>
        </a:fontRef>
        <a:schemeClr val="dk1"/>
      </a:tcTxStyle>
      <a:tcStyle>
        <a:tcBdr>
          <a:bottom>
            <a:ln w="12700" cmpd="sng">
              <a:solidFill>
                <a:schemeClr val="dk1"/>
              </a:solidFill>
            </a:ln>
          </a:bottom>
        </a:tcBdr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229280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5320D358-F853-4E66-A71E-3A9A01236113}" type="datetimeFigureOut">
              <a:rPr lang="de-DE" sz="800" smtClean="0"/>
              <a:t>09.10.2026</a:t>
            </a:fld>
            <a:endParaRPr lang="de-DE" sz="8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pPr algn="r"/>
            <a:endParaRPr lang="de-DE" sz="80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E5BBCCF6-F8A8-4C49-BF3D-CA1AA74CA975}" type="slidenum">
              <a:rPr lang="de-DE" sz="800" smtClean="0"/>
              <a:t>‹#›</a:t>
            </a:fld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314386119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6672" y="611560"/>
            <a:ext cx="5904000" cy="3321000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GB"/>
              <a:t>First list level: Large body text in 14 pt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body text in 14 pt</a:t>
            </a:r>
          </a:p>
          <a:p>
            <a:pPr lvl="5"/>
            <a:r>
              <a:rPr lang="en-GB"/>
              <a:t>6th level, subheading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</a:t>
            </a:r>
            <a:r>
              <a:rPr lang="sv-SE"/>
              <a:t>2. bullet list in 10 pt</a:t>
            </a:r>
            <a:endParaRPr lang="en-GB"/>
          </a:p>
        </p:txBody>
      </p:sp>
      <p:sp>
        <p:nvSpPr>
          <p:cNvPr id="9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229280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/>
            </a:lvl1pPr>
          </a:lstStyle>
          <a:p>
            <a:fld id="{5320D358-F853-4E66-A71E-3A9A01236113}" type="datetimeFigureOut">
              <a:rPr lang="de-DE" smtClean="0"/>
              <a:pPr/>
              <a:t>09.10.2026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4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/>
            </a:lvl1pPr>
          </a:lstStyle>
          <a:p>
            <a:pPr algn="r"/>
            <a:endParaRPr lang="de-DE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5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/>
            </a:lvl1pPr>
          </a:lstStyle>
          <a:p>
            <a:fld id="{E5BBCCF6-F8A8-4C49-BF3D-CA1AA74CA97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19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0" algn="l" defTabSz="914400" rtl="0" eaLnBrk="1" latinLnBrk="0" hangingPunct="1">
      <a:lnSpc>
        <a:spcPct val="120000"/>
      </a:lnSpc>
      <a:spcBef>
        <a:spcPts val="1500"/>
      </a:spcBef>
      <a:spcAft>
        <a:spcPts val="200"/>
      </a:spcAft>
      <a:defRPr sz="1800" b="1" kern="1200">
        <a:solidFill>
          <a:schemeClr val="tx1"/>
        </a:solidFill>
        <a:latin typeface="+mn-lt"/>
        <a:ea typeface="+mn-ea"/>
        <a:cs typeface="+mn-cs"/>
      </a:defRPr>
    </a:lvl2pPr>
    <a:lvl3pPr marL="18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54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Symbol" panose="05050102010706020507" pitchFamily="18" charset="2"/>
      <a:buNone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20000"/>
      </a:lnSpc>
      <a:spcBef>
        <a:spcPts val="1200"/>
      </a:spcBef>
      <a:spcAft>
        <a:spcPts val="200"/>
      </a:spcAft>
      <a:buClr>
        <a:schemeClr val="bg2"/>
      </a:buClr>
      <a:buFontTx/>
      <a:buNone/>
      <a:defRPr sz="1400" b="1" kern="1200">
        <a:solidFill>
          <a:schemeClr val="tx1"/>
        </a:solidFill>
        <a:latin typeface="+mn-lt"/>
        <a:ea typeface="+mn-ea"/>
        <a:cs typeface="+mn-cs"/>
      </a:defRPr>
    </a:lvl7pPr>
    <a:lvl8pPr marL="108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16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E6B4-6ECE-D15E-BB87-D900B4C85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A8E1E-E19D-8F9B-C6C1-7F9707333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389C9-6732-21E3-DE4F-7A7F942F3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AC5A6-92E7-050A-7E83-1CE80CC86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6486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B3A0D8F-9C15-5837-5F96-2D9EA811E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4954" b="22415"/>
          <a:stretch/>
        </p:blipFill>
        <p:spPr>
          <a:xfrm>
            <a:off x="8256241" y="1"/>
            <a:ext cx="393576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068960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4797256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gray">
          <a:xfrm>
            <a:off x="5232400" y="6525360"/>
            <a:ext cx="230376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9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Rad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068960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4797256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gray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748590-F732-D074-F771-EDEC6F004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507" r="50000" b="6507"/>
          <a:stretch/>
        </p:blipFill>
        <p:spPr>
          <a:xfrm>
            <a:off x="8250000" y="0"/>
            <a:ext cx="39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18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Half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56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72"/>
            <a:ext cx="518400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52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F0C95E3C-E453-EAA2-DD4F-8F0D94035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C940FAEA-3B2F-6191-ABB6-8D4D40B0A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BBF7F25-DEE3-0131-6327-0A0331253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96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orient="horz" pos="2886" userDrawn="1">
          <p15:clr>
            <a:srgbClr val="5ACBF0"/>
          </p15:clr>
        </p15:guide>
        <p15:guide id="6" pos="7287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29BE15-3256-F8A5-CEDE-C91B75C47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</p:spPr>
        <p:txBody>
          <a:bodyPr bIns="504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1048E7F-D798-9B2F-8A33-42EB350685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2132832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FFAAFFD-F887-74D0-66D2-DEF991B514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bg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2E9B28D7-605E-AC79-8342-665B340033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4B342-7000-F337-AFA1-9151C7FF7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27FF72FB-FAEC-99C2-2194-2B5F63518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E161A-D4C0-A4C6-91D2-EC09DE9E6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48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1999" cy="6858000"/>
          </a:xfrm>
          <a:noFill/>
        </p:spPr>
        <p:txBody>
          <a:bodyPr bIns="50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0BECFF34-FBF3-EB1A-B551-8D173B39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50D2D8-9A23-38EA-8F69-A5DC2F205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32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8FB1C8E-D489-B130-3C91-F37FBA330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CCD2E16E-B398-FD19-5654-9AE9C47B7F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1166E63-14EF-37CA-7FF8-C0D9FE429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FCCC5F4-A1E7-48AD-5FE3-75380A819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E030E40-4DFB-A3E0-8913-CCD465AE7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4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8"/>
            <a:ext cx="1727696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51088" y="1773237"/>
            <a:ext cx="4607737" cy="4464075"/>
          </a:xfrm>
        </p:spPr>
        <p:txBody>
          <a:bodyPr tIns="108000"/>
          <a:lstStyle>
            <a:lvl1pPr marL="216000" indent="-216000">
              <a:spcBef>
                <a:spcPts val="8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agenda topics, for subtopic use list level 2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535864" y="1773782"/>
            <a:ext cx="4032250" cy="4464075"/>
          </a:xfrm>
        </p:spPr>
        <p:txBody>
          <a:bodyPr tIns="108000"/>
          <a:lstStyle>
            <a:lvl1pPr marL="0" indent="0">
              <a:spcBef>
                <a:spcPts val="800"/>
              </a:spcBef>
              <a:spcAft>
                <a:spcPts val="200"/>
              </a:spcAft>
              <a:buFont typeface="+mj-lt"/>
              <a:buNone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presenter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09590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4747" userDrawn="1">
          <p15:clr>
            <a:srgbClr val="5ACBF0"/>
          </p15:clr>
        </p15:guide>
        <p15:guide id="9" pos="393">
          <p15:clr>
            <a:srgbClr val="5ACBF0"/>
          </p15:clr>
        </p15:guide>
        <p15:guide id="10" pos="4384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7"/>
            <a:ext cx="691197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Table of contents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351584" y="1773237"/>
            <a:ext cx="4032000" cy="4464075"/>
          </a:xfr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7536608" y="1773237"/>
            <a:ext cx="4032000" cy="4464075"/>
          </a:xfr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8" pos="4021" userDrawn="1">
          <p15:clr>
            <a:srgbClr val="5ACBF0"/>
          </p15:clr>
        </p15:guide>
        <p15:guide id="9" pos="393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1221DD-91C5-CDA2-3A9D-3DDCD1436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852" y="1772816"/>
            <a:ext cx="5183999" cy="504056"/>
          </a:xfr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7BA4A2-8208-6854-102F-3D7D52729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r="50035" b="50031"/>
          <a:stretch/>
        </p:blipFill>
        <p:spPr>
          <a:xfrm>
            <a:off x="6363496" y="1028962"/>
            <a:ext cx="5828504" cy="58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56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|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8AB73F0-BBD8-5C26-BE7A-C600237E0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1FD4F7B-75D0-34AB-50E8-00F67617E1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852" y="1772816"/>
            <a:ext cx="5183999" cy="504056"/>
          </a:xfr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B662CD1-20A7-7FCF-36B6-8F04E8014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FC2E49D-109D-F674-5122-39F1FB910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C2139AD-2954-FBFD-3079-17BBEB9E2E8D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296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623872" y="1773237"/>
            <a:ext cx="10944224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3B03897-3806-F68F-6FD7-904E56AC4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76490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EF220C-C7CD-76AD-9FC1-A0856AB0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8112125" y="0"/>
            <a:ext cx="4079875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6911975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623872" y="1773238"/>
            <a:ext cx="6911991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7AF223A-9133-4CD7-A24F-37E750D20428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8688388" y="1773238"/>
            <a:ext cx="2879725" cy="446405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spcBef>
                <a:spcPts val="1200"/>
              </a:spcBef>
              <a:spcAft>
                <a:spcPts val="200"/>
              </a:spcAft>
              <a:defRPr sz="1400"/>
            </a:lvl2pPr>
            <a:lvl3pPr marL="108000" indent="-108000">
              <a:spcBef>
                <a:spcPts val="200"/>
              </a:spcBef>
              <a:spcAft>
                <a:spcPts val="200"/>
              </a:spcAft>
              <a:defRPr sz="1000"/>
            </a:lvl3pPr>
            <a:lvl4pPr marL="216000" indent="-108000">
              <a:spcBef>
                <a:spcPts val="200"/>
              </a:spcBef>
              <a:spcAft>
                <a:spcPts val="200"/>
              </a:spcAft>
              <a:defRPr sz="1000"/>
            </a:lvl4pPr>
            <a:lvl5pPr marL="324000" indent="-108000"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defRPr sz="1000"/>
            </a:lvl6pPr>
            <a:lvl7pPr marL="0">
              <a:defRPr sz="1400"/>
            </a:lvl7pPr>
            <a:lvl8pPr marL="108000">
              <a:defRPr sz="1000"/>
            </a:lvl8pPr>
            <a:lvl9pPr marL="216000">
              <a:defRPr sz="1000"/>
            </a:lvl9pPr>
          </a:lstStyle>
          <a:p>
            <a:pPr lvl="0"/>
            <a:r>
              <a:rPr lang="en-GB"/>
              <a:t>First list level: body text in 10 pt (Please use the "Increase/Decrease List Level" buttons on the “Home" tab to switch between the predefined text formats.) </a:t>
            </a:r>
          </a:p>
          <a:p>
            <a:pPr lvl="1"/>
            <a:r>
              <a:rPr lang="en-GB"/>
              <a:t>2nd level, subheading in 14 pt</a:t>
            </a:r>
          </a:p>
          <a:p>
            <a:pPr lvl="2"/>
            <a:r>
              <a:rPr lang="en-GB"/>
              <a:t>3rd level, 1. bullet list in 10 pt</a:t>
            </a:r>
          </a:p>
          <a:p>
            <a:pPr lvl="3"/>
            <a:r>
              <a:rPr lang="en-GB"/>
              <a:t>4th level, 2. bullet list in 10 pt</a:t>
            </a:r>
          </a:p>
          <a:p>
            <a:pPr lvl="4"/>
            <a:r>
              <a:rPr lang="en-GB"/>
              <a:t>5th level, 3. bullet list in 10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251B3-800C-C616-EE4B-00036F812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8388" y="6525360"/>
            <a:ext cx="2303964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65AA3366-D36B-409F-9579-6FB93E52943B}" type="datetimeyyyy">
              <a:rPr lang="en-US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 BlackBerry Limited. All rights reserved.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23073BE-1E83-1BD0-5242-99848334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D1CE6E-D607-1A05-429F-E791D9E6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8112224" y="1773238"/>
            <a:ext cx="0" cy="446960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>
            <a:extLst>
              <a:ext uri="{FF2B5EF4-FFF2-40B4-BE49-F238E27FC236}">
                <a16:creationId xmlns:a16="http://schemas.microsoft.com/office/drawing/2014/main" id="{A6D92AC3-90E1-30AB-3D66-CED09E8EC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87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orient="horz" pos="111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pos="5473" userDrawn="1">
          <p15:clr>
            <a:srgbClr val="5ACBF0"/>
          </p15:clr>
        </p15:guide>
        <p15:guide id="7" pos="4747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8"/>
            <a:ext cx="5184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6383338" y="1773238"/>
            <a:ext cx="518477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E22620-C5EB-723D-2103-12C2232ED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831577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pos="4021" userDrawn="1">
          <p15:clr>
            <a:srgbClr val="5ACBF0"/>
          </p15:clr>
        </p15:guide>
        <p15:guide id="5" pos="3659" userDrawn="1">
          <p15:clr>
            <a:srgbClr val="5ACBF0"/>
          </p15:clr>
        </p15:guide>
        <p15:guide id="6" orient="horz" pos="391" userDrawn="1">
          <p15:clr>
            <a:srgbClr val="5ACBF0"/>
          </p15:clr>
        </p15:guide>
        <p15:guide id="7" orient="horz" pos="3929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7"/>
            <a:ext cx="3240000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4476240" y="1773238"/>
            <a:ext cx="3240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gray">
          <a:xfrm>
            <a:off x="8328608" y="1773238"/>
            <a:ext cx="3240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1E0CD1D-FE11-E070-9C4E-136B507BE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70907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434" userDrawn="1">
          <p15:clr>
            <a:srgbClr val="5ACBF0"/>
          </p15:clr>
        </p15:guide>
        <p15:guide id="7" pos="2820" userDrawn="1">
          <p15:clr>
            <a:srgbClr val="5ACBF0"/>
          </p15:clr>
        </p15:guide>
        <p15:guide id="8" pos="4861" userDrawn="1">
          <p15:clr>
            <a:srgbClr val="5ACBF0"/>
          </p15:clr>
        </p15:guide>
        <p15:guide id="9" pos="5246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7"/>
            <a:ext cx="2304000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3503712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gray">
          <a:xfrm>
            <a:off x="6384032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8FA3A1E1-08E1-874A-0A45-58B204B3C89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 bwMode="gray">
          <a:xfrm>
            <a:off x="9263118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D27B05-6A39-67F6-27D2-3552819AB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712882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1844" userDrawn="1">
          <p15:clr>
            <a:srgbClr val="5ACBF0"/>
          </p15:clr>
        </p15:guide>
        <p15:guide id="7" pos="2207" userDrawn="1">
          <p15:clr>
            <a:srgbClr val="5ACBF0"/>
          </p15:clr>
        </p15:guide>
        <p15:guide id="8" pos="3659" userDrawn="1">
          <p15:clr>
            <a:srgbClr val="5ACBF0"/>
          </p15:clr>
        </p15:guide>
        <p15:guide id="9" pos="5473" userDrawn="1">
          <p15:clr>
            <a:srgbClr val="5ACBF0"/>
          </p15:clr>
        </p15:guide>
        <p15:guide id="11" pos="4021" userDrawn="1">
          <p15:clr>
            <a:srgbClr val="5ACBF0"/>
          </p15:clr>
        </p15:guide>
        <p15:guide id="12" pos="5836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8"/>
            <a:ext cx="3456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5232400" y="1773238"/>
            <a:ext cx="6335713" cy="446405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E0BBA77-A61C-80AF-78D9-8C02CD3C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604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570" userDrawn="1">
          <p15:clr>
            <a:srgbClr val="5ACBF0"/>
          </p15:clr>
        </p15:guide>
        <p15:guide id="7" pos="3296" userDrawn="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9600" y="620687"/>
            <a:ext cx="4608512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960096" y="1773238"/>
            <a:ext cx="4608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392" y="620713"/>
            <a:ext cx="5184000" cy="5616575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1F83972-D57B-2393-82D2-6CA362BB7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4022514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3659" userDrawn="1">
          <p15:clr>
            <a:srgbClr val="5ACBF0"/>
          </p15:clr>
        </p15:guide>
        <p15:guide id="7" pos="4384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41177C3D-1294-DFF4-E6B0-1F16699BF2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872" y="1773238"/>
            <a:ext cx="10944241" cy="446405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CF619C6-A2E4-8B7D-3EB4-FAFDB97CA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1507138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2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26953-2E70-0688-8FC9-8BB3D6019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lang="en-US" smtClean="0"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>
          <a:xfrm>
            <a:off x="11208112" y="6525360"/>
            <a:ext cx="360000" cy="144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60375E9F-1DDA-9293-C3FF-E9BF48405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DF295D-CB11-A4FB-5F5E-834306A9FA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1"/>
          </a:xfrm>
          <a:prstGeom prst="rect">
            <a:avLst/>
          </a:pr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8C77865-6467-D50F-9DCF-A6AAA413D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4365312"/>
            <a:ext cx="5183984" cy="1872000"/>
          </a:xfrm>
          <a:noFill/>
        </p:spPr>
        <p:txBody>
          <a:bodyPr lIns="0" tIns="0" rIns="0" bIns="0" anchor="b"/>
          <a:lstStyle>
            <a:lvl1pPr>
              <a:defRPr lang="en-US" sz="4000" dirty="0">
                <a:solidFill>
                  <a:schemeClr val="tx1"/>
                </a:solidFill>
              </a:defRPr>
            </a:lvl1pPr>
          </a:lstStyle>
          <a:p>
            <a:r>
              <a:rPr lang="en-GB"/>
              <a:t>Add a message aligned to the left or right side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E7A0F38-1378-F695-38F8-206336A8527D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2635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orient="horz" pos="3929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1484784"/>
            <a:ext cx="6912000" cy="2880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Topic of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E6804A-B557-0580-B9FF-6543B0B27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2204864"/>
            <a:ext cx="6911975" cy="4032000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1pPr>
            <a:lvl2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4pPr>
            <a:lvl5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5pPr>
            <a:lvl6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6pPr>
            <a:lvl7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7pPr>
            <a:lvl8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8pPr>
            <a:lvl9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9pPr>
          </a:lstStyle>
          <a:p>
            <a:pPr lvl="0"/>
            <a:r>
              <a:rPr lang="en-GB"/>
              <a:t>Add an important statement</a:t>
            </a:r>
          </a:p>
          <a:p>
            <a:pPr lvl="1"/>
            <a:endParaRPr lang="en-GB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87F7DD5-FE55-1757-0CD4-20FAE20C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>
            <a:off x="9606976" y="0"/>
            <a:ext cx="2585024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7C0BC4A-2B94-C4C8-BAB0-C51AE88EE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92158078-B084-7032-049C-D8E684B4C9E1}"/>
              </a:ext>
            </a:extLst>
          </p:cNvPr>
          <p:cNvSpPr/>
          <p:nvPr userDrawn="1"/>
        </p:nvSpPr>
        <p:spPr bwMode="gray">
          <a:xfrm>
            <a:off x="10580483" y="-1"/>
            <a:ext cx="1276157" cy="9648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0B7ACAED-396E-E25D-4F15-E1673FF66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5" orient="horz" pos="1389" userDrawn="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5FCD-6CD9-C35E-4E96-71C11BF3E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53899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orient="horz" pos="1117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820F22-AB0B-FCC4-19F4-47AB9C42A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613" y="2913719"/>
            <a:ext cx="2880522" cy="1008112"/>
          </a:xfrm>
        </p:spPr>
        <p:txBody>
          <a:bodyPr tIns="0" anchor="ctr"/>
          <a:lstStyle>
            <a:lvl1pPr>
              <a:defRPr/>
            </a:lvl1pPr>
          </a:lstStyle>
          <a:p>
            <a:r>
              <a:rPr lang="en-GB" noProof="0"/>
              <a:t>Thank you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959599" y="3284984"/>
            <a:ext cx="3457575" cy="2952000"/>
          </a:xfrm>
        </p:spPr>
        <p:txBody>
          <a:bodyPr anchor="t"/>
          <a:lstStyle>
            <a:lvl1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200"/>
              </a:spcBef>
              <a:spcAft>
                <a:spcPts val="1200"/>
              </a:spcAft>
              <a:buFont typeface="Arial" panose="020B0604020202020204" pitchFamily="34" charset="0"/>
              <a:buNone/>
              <a:tabLst>
                <a:tab pos="723900" algn="l"/>
              </a:tabLst>
              <a:defRPr sz="1000" b="0">
                <a:latin typeface="+mn-lt"/>
              </a:defRPr>
            </a:lvl2pPr>
            <a:lvl3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3pPr>
            <a:lvl4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4pPr>
            <a:lvl5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9pPr>
          </a:lstStyle>
          <a:p>
            <a:pPr lvl="0"/>
            <a:r>
              <a:rPr lang="en-GB"/>
              <a:t>Name Surname</a:t>
            </a:r>
          </a:p>
          <a:p>
            <a:pPr lvl="1"/>
            <a:r>
              <a:rPr lang="en-GB"/>
              <a:t>Job title</a:t>
            </a:r>
          </a:p>
          <a:p>
            <a:pPr lvl="2"/>
            <a:r>
              <a:rPr lang="en-GB"/>
              <a:t>Contact data</a:t>
            </a:r>
          </a:p>
          <a:p>
            <a:pPr lvl="3"/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784D80-5586-6198-7C51-BAE686880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 rot="10800000">
            <a:off x="1" y="0"/>
            <a:ext cx="2585024" cy="6858000"/>
          </a:xfrm>
          <a:prstGeom prst="rect">
            <a:avLst/>
          </a:prstGeom>
        </p:spPr>
      </p:pic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649956-A4E1-EFE1-CA84-A162CF80F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959600" y="620712"/>
            <a:ext cx="3457575" cy="230400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8488C-A96B-B4B3-DB18-1F5E65734A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4F607-54F9-CE0E-66F1-C7A641F759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64BB849-B7FC-3952-913B-F400FD508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C2EB24EB-2820-8054-D726-2EC0B4AC5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16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6562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4384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B3A0D8F-9C15-5837-5F96-2D9EA811E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4954" b="22415"/>
          <a:stretch/>
        </p:blipFill>
        <p:spPr>
          <a:xfrm>
            <a:off x="8256241" y="1"/>
            <a:ext cx="393576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306896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4797256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black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91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Rad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306896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4797256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black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AABD0FE-C518-0C23-6BFE-D56030024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507" r="50000" b="6507"/>
          <a:stretch/>
        </p:blipFill>
        <p:spPr>
          <a:xfrm>
            <a:off x="8250000" y="0"/>
            <a:ext cx="39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7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Half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2132856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2493072"/>
            <a:ext cx="518400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3861152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C9DEBE27-D875-6FA1-857C-1FAFA560B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92882950-AB80-98BF-7E6A-936E99E2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AC13325-40B9-01EA-C2FA-F76B8EC5C5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52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orient="horz" pos="2886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29BE15-3256-F8A5-CEDE-C91B75C47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bIns="504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1048E7F-D798-9B2F-8A33-42EB350685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FFAAFFD-F887-74D0-66D2-DEF991B514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2E9B28D7-605E-AC79-8342-665B340033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23392" y="620689"/>
            <a:ext cx="1080000" cy="37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4B342-7000-F337-AFA1-9151C7FF7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A8677481-6FD1-2F5C-6EC4-6BF3EDB4D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CB178-9747-A446-6D94-F3C351A39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69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2886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1999" cy="6858000"/>
          </a:xfrm>
          <a:prstGeom prst="rect">
            <a:avLst/>
          </a:prstGeom>
          <a:noFill/>
        </p:spPr>
        <p:txBody>
          <a:bodyPr bIns="50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0BECFF34-FBF3-EB1A-B551-8D173B39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50D2D8-9A23-38EA-8F69-A5DC2F205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8FB1C8E-D489-B130-3C91-F37FBA330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bg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CCD2E16E-B398-FD19-5654-9AE9C47B7F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1166E63-14EF-37CA-7FF8-C0D9FE429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7FF38C0-2225-C9AC-B499-DE83DC535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7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8"/>
            <a:ext cx="1727696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2350666" y="1773237"/>
            <a:ext cx="4607737" cy="4464075"/>
          </a:xfrm>
          <a:prstGeom prst="rect">
            <a:avLst/>
          </a:prstGeom>
        </p:spPr>
        <p:txBody>
          <a:bodyPr tIns="108000"/>
          <a:lstStyle>
            <a:lvl1pPr marL="216000" indent="-216000">
              <a:spcBef>
                <a:spcPts val="8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agenda topics, for subtopic use list level 2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7535441" y="1773782"/>
            <a:ext cx="4032671" cy="4464075"/>
          </a:xfrm>
          <a:prstGeom prst="rect">
            <a:avLst/>
          </a:prstGeom>
        </p:spPr>
        <p:txBody>
          <a:bodyPr tIns="108000"/>
          <a:lstStyle>
            <a:lvl1pPr marL="0" indent="0">
              <a:spcBef>
                <a:spcPts val="800"/>
              </a:spcBef>
              <a:spcAft>
                <a:spcPts val="200"/>
              </a:spcAft>
              <a:buFont typeface="+mj-lt"/>
              <a:buNone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presenter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13180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9" pos="393" userDrawn="1">
          <p15:clr>
            <a:srgbClr val="5ACBF0"/>
          </p15:clr>
        </p15:guide>
        <p15:guide id="10" pos="4384" userDrawn="1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7"/>
            <a:ext cx="691197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Table of contents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2351584" y="1773237"/>
            <a:ext cx="4032000" cy="44640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7536608" y="1773237"/>
            <a:ext cx="4032000" cy="44640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595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8" pos="4021" userDrawn="1">
          <p15:clr>
            <a:srgbClr val="5ACBF0"/>
          </p15:clr>
        </p15:guide>
        <p15:guide id="9" pos="393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1221DD-91C5-CDA2-3A9D-3DDCD1436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7BA4A2-8208-6854-102F-3D7D52729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r="50035" b="50031"/>
          <a:stretch/>
        </p:blipFill>
        <p:spPr>
          <a:xfrm>
            <a:off x="6363496" y="1028962"/>
            <a:ext cx="5828504" cy="58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375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|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8AB73F0-BBD8-5C26-BE7A-C600237E0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1FD4F7B-75D0-34AB-50E8-00F67617E1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B662CD1-20A7-7FCF-36B6-8F04E8014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2444A59-A11B-D30A-1AD5-AC8EE0977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64F16516-D1AC-3BC8-1379-009675728DA7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1602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23872" y="1773237"/>
            <a:ext cx="10944224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3B03897-3806-F68F-6FD7-904E56AC4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508833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EF220C-C7CD-76AD-9FC1-A0856AB0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8112125" y="0"/>
            <a:ext cx="4079875" cy="6858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6911975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23872" y="1773238"/>
            <a:ext cx="6911991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251B3-800C-C616-EE4B-00036F812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8388" y="6525360"/>
            <a:ext cx="2303964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A3918C81-82EA-45E5-9D99-58960B473AC9}" type="datetimeyyyy">
              <a:rPr lang="en-US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 BlackBerry Limited. All rights reserved.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23073BE-1E83-1BD0-5242-99848334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D1CE6E-D607-1A05-429F-E791D9E6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12224" y="1773238"/>
            <a:ext cx="0" cy="44696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937084-D812-3A4B-EA94-E25321C213CE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8688388" y="1773238"/>
            <a:ext cx="2879725" cy="446405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spcBef>
                <a:spcPts val="1200"/>
              </a:spcBef>
              <a:spcAft>
                <a:spcPts val="200"/>
              </a:spcAft>
              <a:defRPr sz="1400"/>
            </a:lvl2pPr>
            <a:lvl3pPr marL="108000" indent="-108000">
              <a:spcBef>
                <a:spcPts val="200"/>
              </a:spcBef>
              <a:spcAft>
                <a:spcPts val="200"/>
              </a:spcAft>
              <a:defRPr sz="1000"/>
            </a:lvl3pPr>
            <a:lvl4pPr marL="216000" indent="-108000">
              <a:spcBef>
                <a:spcPts val="200"/>
              </a:spcBef>
              <a:spcAft>
                <a:spcPts val="200"/>
              </a:spcAft>
              <a:defRPr sz="1000"/>
            </a:lvl4pPr>
            <a:lvl5pPr marL="324000" indent="-108000"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defRPr sz="1000"/>
            </a:lvl6pPr>
            <a:lvl7pPr marL="0">
              <a:defRPr sz="1400"/>
            </a:lvl7pPr>
            <a:lvl8pPr marL="108000">
              <a:defRPr sz="1000"/>
            </a:lvl8pPr>
            <a:lvl9pPr marL="216000">
              <a:defRPr sz="1000"/>
            </a:lvl9pPr>
          </a:lstStyle>
          <a:p>
            <a:pPr lvl="0"/>
            <a:r>
              <a:rPr lang="en-GB"/>
              <a:t>First list level: body text in 10 pt (Please use the "Increase/Decrease List Level" buttons on the “Home" tab to switch between the predefined text formats.) </a:t>
            </a:r>
          </a:p>
          <a:p>
            <a:pPr lvl="1"/>
            <a:r>
              <a:rPr lang="en-GB"/>
              <a:t>2nd level, subheading in 14 pt</a:t>
            </a:r>
          </a:p>
          <a:p>
            <a:pPr lvl="2"/>
            <a:r>
              <a:rPr lang="en-GB"/>
              <a:t>3rd level, 1. bullet list in 10 pt</a:t>
            </a:r>
          </a:p>
          <a:p>
            <a:pPr lvl="3"/>
            <a:r>
              <a:rPr lang="en-GB"/>
              <a:t>4th level, 2. bullet list in 10 pt</a:t>
            </a:r>
          </a:p>
          <a:p>
            <a:pPr lvl="4"/>
            <a:r>
              <a:rPr lang="en-GB"/>
              <a:t>5th level, 3. bullet list in 10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E40ECC1E-161B-90A8-D9F3-B5074030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01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orient="horz" pos="111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pos="5473" userDrawn="1">
          <p15:clr>
            <a:srgbClr val="5ACBF0"/>
          </p15:clr>
        </p15:guide>
        <p15:guide id="7" pos="4747" userDrawn="1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8"/>
            <a:ext cx="5184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6383338" y="1773238"/>
            <a:ext cx="5184775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E22620-C5EB-723D-2103-12C2232ED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4427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pos="4021" userDrawn="1">
          <p15:clr>
            <a:srgbClr val="5ACBF0"/>
          </p15:clr>
        </p15:guide>
        <p15:guide id="5" pos="3659" userDrawn="1">
          <p15:clr>
            <a:srgbClr val="5ACBF0"/>
          </p15:clr>
        </p15:guide>
        <p15:guide id="6" orient="horz" pos="391" userDrawn="1">
          <p15:clr>
            <a:srgbClr val="5ACBF0"/>
          </p15:clr>
        </p15:guide>
        <p15:guide id="7" orient="horz" pos="3929" userDrawn="1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7"/>
            <a:ext cx="3240000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4476240" y="1773238"/>
            <a:ext cx="3240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black">
          <a:xfrm>
            <a:off x="8328608" y="1773238"/>
            <a:ext cx="3240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1E0CD1D-FE11-E070-9C4E-136B507BE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1466530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434" userDrawn="1">
          <p15:clr>
            <a:srgbClr val="5ACBF0"/>
          </p15:clr>
        </p15:guide>
        <p15:guide id="7" pos="2820" userDrawn="1">
          <p15:clr>
            <a:srgbClr val="5ACBF0"/>
          </p15:clr>
        </p15:guide>
        <p15:guide id="8" pos="4861" userDrawn="1">
          <p15:clr>
            <a:srgbClr val="5ACBF0"/>
          </p15:clr>
        </p15:guide>
        <p15:guide id="9" pos="5246" userDrawn="1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7"/>
            <a:ext cx="2304000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3503712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black">
          <a:xfrm>
            <a:off x="6384032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8FA3A1E1-08E1-874A-0A45-58B204B3C89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 bwMode="black">
          <a:xfrm>
            <a:off x="9263118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D27B05-6A39-67F6-27D2-3552819AB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97566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1844" userDrawn="1">
          <p15:clr>
            <a:srgbClr val="5ACBF0"/>
          </p15:clr>
        </p15:guide>
        <p15:guide id="7" pos="2207" userDrawn="1">
          <p15:clr>
            <a:srgbClr val="5ACBF0"/>
          </p15:clr>
        </p15:guide>
        <p15:guide id="8" pos="3659" userDrawn="1">
          <p15:clr>
            <a:srgbClr val="5ACBF0"/>
          </p15:clr>
        </p15:guide>
        <p15:guide id="9" pos="5473" userDrawn="1">
          <p15:clr>
            <a:srgbClr val="5ACBF0"/>
          </p15:clr>
        </p15:guide>
        <p15:guide id="11" pos="4021" userDrawn="1">
          <p15:clr>
            <a:srgbClr val="5ACBF0"/>
          </p15:clr>
        </p15:guide>
        <p15:guide id="12" pos="5836" userDrawn="1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8"/>
            <a:ext cx="3456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5232400" y="1773238"/>
            <a:ext cx="6335713" cy="446405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E0BBA77-A61C-80AF-78D9-8C02CD3C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3782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570" userDrawn="1">
          <p15:clr>
            <a:srgbClr val="5ACBF0"/>
          </p15:clr>
        </p15:guide>
        <p15:guide id="7" pos="3296" userDrawn="1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9600" y="620687"/>
            <a:ext cx="4608512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960096" y="1773238"/>
            <a:ext cx="4608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392" y="620713"/>
            <a:ext cx="5184000" cy="5616575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1F83972-D57B-2393-82D2-6CA362BB7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91881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3659" userDrawn="1">
          <p15:clr>
            <a:srgbClr val="5ACBF0"/>
          </p15:clr>
        </p15:guide>
        <p15:guide id="7" pos="4384" userDrawn="1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41177C3D-1294-DFF4-E6B0-1F16699BF2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872" y="1773238"/>
            <a:ext cx="10944241" cy="446405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CF619C6-A2E4-8B7D-3EB4-FAFDB97CA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007421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29" userDrawn="1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8ADAD-D679-26B4-4AEF-A682620D5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lang="en-US" smtClean="0"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>
          <a:xfrm>
            <a:off x="11208112" y="6525360"/>
            <a:ext cx="360000" cy="144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DF295D-CB11-A4FB-5F5E-834306A9FA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1"/>
          </a:xfrm>
          <a:prstGeom prst="rect">
            <a:avLst/>
          </a:pr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8C77865-6467-D50F-9DCF-A6AAA413D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4365312"/>
            <a:ext cx="5183984" cy="1872000"/>
          </a:xfrm>
          <a:noFill/>
        </p:spPr>
        <p:txBody>
          <a:bodyPr lIns="0" tIns="0" rIns="0" bIns="0" anchor="b"/>
          <a:lstStyle>
            <a:lvl1pPr>
              <a:defRPr lang="en-US" sz="4000" dirty="0">
                <a:solidFill>
                  <a:schemeClr val="bg1"/>
                </a:solidFill>
              </a:defRPr>
            </a:lvl1pPr>
          </a:lstStyle>
          <a:p>
            <a:r>
              <a:rPr lang="en-GB"/>
              <a:t>Add a message aligned to the left or right side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A89324E0-1FA7-5467-7B47-C8D149B0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227408C9-542A-5093-B41C-51761CEAF845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1976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orient="horz" pos="3929" userDrawn="1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1484784"/>
            <a:ext cx="6912000" cy="2880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Topic of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E6804A-B557-0580-B9FF-6543B0B27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2204864"/>
            <a:ext cx="6911975" cy="403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1pPr>
            <a:lvl2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4pPr>
            <a:lvl5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5pPr>
            <a:lvl6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6pPr>
            <a:lvl7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7pPr>
            <a:lvl8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8pPr>
            <a:lvl9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9pPr>
          </a:lstStyle>
          <a:p>
            <a:pPr lvl="0"/>
            <a:r>
              <a:rPr lang="en-GB"/>
              <a:t>Add an important statement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87F7DD5-FE55-1757-0CD4-20FAE20C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>
            <a:off x="9606976" y="0"/>
            <a:ext cx="2585024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7C0BC4A-2B94-C4C8-BAB0-C51AE88EE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1383CA07-6945-F67C-0640-B79EE219FC09}"/>
              </a:ext>
            </a:extLst>
          </p:cNvPr>
          <p:cNvSpPr/>
          <p:nvPr userDrawn="1"/>
        </p:nvSpPr>
        <p:spPr bwMode="invGray">
          <a:xfrm>
            <a:off x="10580483" y="-1"/>
            <a:ext cx="1276157" cy="9648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19210578-8885-4C18-A4C5-D3918EDD9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52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5" orient="horz" pos="1389" userDrawn="1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5FCD-6CD9-C35E-4E96-71C11BF3E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75491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orient="horz" pos="1117" userDrawn="1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820F22-AB0B-FCC4-19F4-47AB9C42A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613" y="2913719"/>
            <a:ext cx="2880522" cy="1008112"/>
          </a:xfrm>
        </p:spPr>
        <p:txBody>
          <a:bodyPr tIns="0" anchor="ctr"/>
          <a:lstStyle>
            <a:lvl1pPr>
              <a:defRPr/>
            </a:lvl1pPr>
          </a:lstStyle>
          <a:p>
            <a:r>
              <a:rPr lang="en-GB" noProof="0"/>
              <a:t>Thank you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959599" y="3284984"/>
            <a:ext cx="3457575" cy="2952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200"/>
              </a:spcBef>
              <a:spcAft>
                <a:spcPts val="1200"/>
              </a:spcAft>
              <a:buFont typeface="Arial" panose="020B0604020202020204" pitchFamily="34" charset="0"/>
              <a:buNone/>
              <a:tabLst>
                <a:tab pos="723900" algn="l"/>
              </a:tabLst>
              <a:defRPr sz="1000" b="0">
                <a:latin typeface="+mn-lt"/>
              </a:defRPr>
            </a:lvl2pPr>
            <a:lvl3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3pPr>
            <a:lvl4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4pPr>
            <a:lvl5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9pPr>
          </a:lstStyle>
          <a:p>
            <a:pPr lvl="0"/>
            <a:r>
              <a:rPr lang="en-GB"/>
              <a:t>Name Surname</a:t>
            </a:r>
          </a:p>
          <a:p>
            <a:pPr lvl="1"/>
            <a:r>
              <a:rPr lang="en-GB"/>
              <a:t>Job title</a:t>
            </a:r>
          </a:p>
          <a:p>
            <a:pPr lvl="2"/>
            <a:r>
              <a:rPr lang="en-GB"/>
              <a:t>Contact data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784D80-5586-6198-7C51-BAE686880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 rot="10800000">
            <a:off x="1" y="0"/>
            <a:ext cx="2585024" cy="6858000"/>
          </a:xfrm>
          <a:prstGeom prst="rect">
            <a:avLst/>
          </a:prstGeom>
        </p:spPr>
      </p:pic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649956-A4E1-EFE1-CA84-A162CF80F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black">
          <a:xfrm>
            <a:off x="6959600" y="620712"/>
            <a:ext cx="3457575" cy="230400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7DDDF-C12F-4CD6-ABC5-E6EC2BB846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21251-1225-91AC-8267-5F50CE927D8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5EADE93-A9EF-74FA-2C3E-0EAEFCA9C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4645AC1-0063-A4BD-B5E6-1E7196D7B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4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6562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4384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image" Target="../media/image11.svg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68688" y="620688"/>
            <a:ext cx="72000" cy="5616624"/>
            <a:chOff x="-456728" y="620688"/>
            <a:chExt cx="216000" cy="5616624"/>
          </a:xfrm>
        </p:grpSpPr>
        <p:cxnSp>
          <p:nvCxnSpPr>
            <p:cNvPr id="23" name="Gerader Verbinder 22"/>
            <p:cNvCxnSpPr/>
            <p:nvPr userDrawn="1"/>
          </p:nvCxnSpPr>
          <p:spPr bwMode="gray">
            <a:xfrm>
              <a:off x="-456728" y="620688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 bwMode="gray">
            <a:xfrm>
              <a:off x="-456728" y="6237312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80C130E-FFAB-1C25-18E3-9DA5F46EA753}"/>
                </a:ext>
              </a:extLst>
            </p:cNvPr>
            <p:cNvCxnSpPr/>
            <p:nvPr userDrawn="1"/>
          </p:nvCxnSpPr>
          <p:spPr bwMode="gray">
            <a:xfrm>
              <a:off x="-456728" y="1772816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8F8F8B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208112" y="6525360"/>
            <a:ext cx="36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8F8F8B"/>
                </a:solidFill>
                <a:latin typeface="+mj-lt"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format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623888" y="1773239"/>
            <a:ext cx="10944225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C9C158-0880-C88E-392B-303801BF3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3888" y="-279400"/>
            <a:ext cx="10946176" cy="108000"/>
            <a:chOff x="623888" y="-279400"/>
            <a:chExt cx="10946176" cy="108000"/>
          </a:xfrm>
        </p:grpSpPr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B3F183F-4A20-C039-6CFB-C8BE6BB2E79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23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12">
              <a:extLst>
                <a:ext uri="{FF2B5EF4-FFF2-40B4-BE49-F238E27FC236}">
                  <a16:creationId xmlns:a16="http://schemas.microsoft.com/office/drawing/2014/main" id="{7D3B68E6-D823-99B9-04BD-0843824B55E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99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12">
              <a:extLst>
                <a:ext uri="{FF2B5EF4-FFF2-40B4-BE49-F238E27FC236}">
                  <a16:creationId xmlns:a16="http://schemas.microsoft.com/office/drawing/2014/main" id="{21B6146C-08F9-BFA6-0BD6-E6EEFDCAA66D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775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12">
              <a:extLst>
                <a:ext uri="{FF2B5EF4-FFF2-40B4-BE49-F238E27FC236}">
                  <a16:creationId xmlns:a16="http://schemas.microsoft.com/office/drawing/2014/main" id="{783FDB41-EBA0-848F-CA4B-559246DCCB5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35201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12">
              <a:extLst>
                <a:ext uri="{FF2B5EF4-FFF2-40B4-BE49-F238E27FC236}">
                  <a16:creationId xmlns:a16="http://schemas.microsoft.com/office/drawing/2014/main" id="{9106D7B1-DB33-3E76-F86D-AB80351B250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92814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12">
              <a:extLst>
                <a:ext uri="{FF2B5EF4-FFF2-40B4-BE49-F238E27FC236}">
                  <a16:creationId xmlns:a16="http://schemas.microsoft.com/office/drawing/2014/main" id="{F60363AD-3A82-21AD-833C-E52EF282BC4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50427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12">
              <a:extLst>
                <a:ext uri="{FF2B5EF4-FFF2-40B4-BE49-F238E27FC236}">
                  <a16:creationId xmlns:a16="http://schemas.microsoft.com/office/drawing/2014/main" id="{13680DF0-FAFE-2093-28E7-AD4E8F55B6E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8040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12">
              <a:extLst>
                <a:ext uri="{FF2B5EF4-FFF2-40B4-BE49-F238E27FC236}">
                  <a16:creationId xmlns:a16="http://schemas.microsoft.com/office/drawing/2014/main" id="{D2B39669-1DB7-FB69-8718-9ADC51CC91F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65652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12">
              <a:extLst>
                <a:ext uri="{FF2B5EF4-FFF2-40B4-BE49-F238E27FC236}">
                  <a16:creationId xmlns:a16="http://schemas.microsoft.com/office/drawing/2014/main" id="{F5649386-2689-8590-7E18-09063377FA9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23265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12">
              <a:extLst>
                <a:ext uri="{FF2B5EF4-FFF2-40B4-BE49-F238E27FC236}">
                  <a16:creationId xmlns:a16="http://schemas.microsoft.com/office/drawing/2014/main" id="{9426BA6C-1DAA-DD25-1C50-4D2B214B06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0878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12">
              <a:extLst>
                <a:ext uri="{FF2B5EF4-FFF2-40B4-BE49-F238E27FC236}">
                  <a16:creationId xmlns:a16="http://schemas.microsoft.com/office/drawing/2014/main" id="{271183F4-1370-4769-AD4A-67AB7669FC4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8491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12">
              <a:extLst>
                <a:ext uri="{FF2B5EF4-FFF2-40B4-BE49-F238E27FC236}">
                  <a16:creationId xmlns:a16="http://schemas.microsoft.com/office/drawing/2014/main" id="{C008B0B3-1207-E40A-542B-B9B9DFBC78C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96104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12">
              <a:extLst>
                <a:ext uri="{FF2B5EF4-FFF2-40B4-BE49-F238E27FC236}">
                  <a16:creationId xmlns:a16="http://schemas.microsoft.com/office/drawing/2014/main" id="{A505D355-BA84-FEA9-8B2D-4A52E4E75B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53716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12">
              <a:extLst>
                <a:ext uri="{FF2B5EF4-FFF2-40B4-BE49-F238E27FC236}">
                  <a16:creationId xmlns:a16="http://schemas.microsoft.com/office/drawing/2014/main" id="{C0167BC6-BF16-9AC7-7AB4-9D5DE127D4B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1329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12">
              <a:extLst>
                <a:ext uri="{FF2B5EF4-FFF2-40B4-BE49-F238E27FC236}">
                  <a16:creationId xmlns:a16="http://schemas.microsoft.com/office/drawing/2014/main" id="{19241246-778C-7089-4EF1-64E728B2E2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68942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12">
              <a:extLst>
                <a:ext uri="{FF2B5EF4-FFF2-40B4-BE49-F238E27FC236}">
                  <a16:creationId xmlns:a16="http://schemas.microsoft.com/office/drawing/2014/main" id="{A090D565-38F2-39B7-2B28-735F75E2230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26555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12">
              <a:extLst>
                <a:ext uri="{FF2B5EF4-FFF2-40B4-BE49-F238E27FC236}">
                  <a16:creationId xmlns:a16="http://schemas.microsoft.com/office/drawing/2014/main" id="{98D7EFC9-C38C-3024-FDF1-90F4FB8C924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84168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12">
              <a:extLst>
                <a:ext uri="{FF2B5EF4-FFF2-40B4-BE49-F238E27FC236}">
                  <a16:creationId xmlns:a16="http://schemas.microsoft.com/office/drawing/2014/main" id="{E89575A4-E067-8D9D-C4DD-13F84892247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41780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12">
              <a:extLst>
                <a:ext uri="{FF2B5EF4-FFF2-40B4-BE49-F238E27FC236}">
                  <a16:creationId xmlns:a16="http://schemas.microsoft.com/office/drawing/2014/main" id="{9A690B72-D042-5FB5-9512-D39A15A35AC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99393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12">
              <a:extLst>
                <a:ext uri="{FF2B5EF4-FFF2-40B4-BE49-F238E27FC236}">
                  <a16:creationId xmlns:a16="http://schemas.microsoft.com/office/drawing/2014/main" id="{8C780BB7-0447-94C0-2DB4-1D1542BE719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57006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118D6E-C050-4018-B59E-4C9A1A9EEB9E}"/>
                </a:ext>
              </a:extLst>
            </p:cNvPr>
            <p:cNvCxnSpPr/>
            <p:nvPr userDrawn="1"/>
          </p:nvCxnSpPr>
          <p:spPr bwMode="gray">
            <a:xfrm>
              <a:off x="623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4DA8B5-5EED-4441-E2FB-16E4777E3D14}"/>
                </a:ext>
              </a:extLst>
            </p:cNvPr>
            <p:cNvCxnSpPr/>
            <p:nvPr userDrawn="1"/>
          </p:nvCxnSpPr>
          <p:spPr bwMode="gray">
            <a:xfrm>
              <a:off x="1775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FA00BD-385B-2681-21A7-C6EE95FCAF0E}"/>
                </a:ext>
              </a:extLst>
            </p:cNvPr>
            <p:cNvCxnSpPr/>
            <p:nvPr userDrawn="1"/>
          </p:nvCxnSpPr>
          <p:spPr bwMode="gray">
            <a:xfrm>
              <a:off x="292814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BB6208-E614-A138-0616-30E074C37515}"/>
                </a:ext>
              </a:extLst>
            </p:cNvPr>
            <p:cNvCxnSpPr/>
            <p:nvPr userDrawn="1"/>
          </p:nvCxnSpPr>
          <p:spPr bwMode="gray">
            <a:xfrm>
              <a:off x="408040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8834F7-76D4-750A-3CA2-EFA46107D343}"/>
                </a:ext>
              </a:extLst>
            </p:cNvPr>
            <p:cNvCxnSpPr/>
            <p:nvPr userDrawn="1"/>
          </p:nvCxnSpPr>
          <p:spPr bwMode="gray">
            <a:xfrm>
              <a:off x="523265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A74E96-CB47-B6B0-B61F-39F69B54942B}"/>
                </a:ext>
              </a:extLst>
            </p:cNvPr>
            <p:cNvCxnSpPr/>
            <p:nvPr userDrawn="1"/>
          </p:nvCxnSpPr>
          <p:spPr bwMode="gray">
            <a:xfrm>
              <a:off x="6384912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B7129F-24F4-5E06-E53E-6AFE0F8347A5}"/>
                </a:ext>
              </a:extLst>
            </p:cNvPr>
            <p:cNvCxnSpPr/>
            <p:nvPr userDrawn="1"/>
          </p:nvCxnSpPr>
          <p:spPr bwMode="gray">
            <a:xfrm>
              <a:off x="753716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A5D3E-CA5C-B513-51E8-933FDFFEECB2}"/>
                </a:ext>
              </a:extLst>
            </p:cNvPr>
            <p:cNvCxnSpPr/>
            <p:nvPr userDrawn="1"/>
          </p:nvCxnSpPr>
          <p:spPr bwMode="gray">
            <a:xfrm>
              <a:off x="868942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1B2A69B-253D-1536-1F92-D4C6833FDCE2}"/>
                </a:ext>
              </a:extLst>
            </p:cNvPr>
            <p:cNvCxnSpPr/>
            <p:nvPr userDrawn="1"/>
          </p:nvCxnSpPr>
          <p:spPr bwMode="gray">
            <a:xfrm>
              <a:off x="984168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DD3B66-EB3B-2C1E-08A1-000B49FD1F34}"/>
                </a:ext>
              </a:extLst>
            </p:cNvPr>
            <p:cNvCxnSpPr/>
            <p:nvPr userDrawn="1"/>
          </p:nvCxnSpPr>
          <p:spPr bwMode="gray">
            <a:xfrm>
              <a:off x="1099393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783742F-459B-4ECC-9A88-26A1379C4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9424" y="6525360"/>
            <a:ext cx="230292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rgbClr val="8F8F8B"/>
              </a:solidFill>
              <a:latin typeface="Onest" pitchFamily="2" charset="0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61BDE8A-2C7E-A236-1375-FE495BB9F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6" r:id="rId2"/>
    <p:sldLayoutId id="2147483698" r:id="rId3"/>
    <p:sldLayoutId id="2147483673" r:id="rId4"/>
    <p:sldLayoutId id="2147483668" r:id="rId5"/>
    <p:sldLayoutId id="2147483701" r:id="rId6"/>
    <p:sldLayoutId id="2147483661" r:id="rId7"/>
    <p:sldLayoutId id="2147483651" r:id="rId8"/>
    <p:sldLayoutId id="2147483670" r:id="rId9"/>
    <p:sldLayoutId id="2147483650" r:id="rId10"/>
    <p:sldLayoutId id="2147483663" r:id="rId11"/>
    <p:sldLayoutId id="2147483652" r:id="rId12"/>
    <p:sldLayoutId id="2147483659" r:id="rId13"/>
    <p:sldLayoutId id="2147483664" r:id="rId14"/>
    <p:sldLayoutId id="2147483656" r:id="rId15"/>
    <p:sldLayoutId id="2147483671" r:id="rId16"/>
    <p:sldLayoutId id="2147483657" r:id="rId17"/>
    <p:sldLayoutId id="2147483658" r:id="rId18"/>
    <p:sldLayoutId id="2147483672" r:id="rId19"/>
    <p:sldLayoutId id="2147483654" r:id="rId20"/>
    <p:sldLayoutId id="2147483662" r:id="rId21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Onest Medium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68688" y="620688"/>
            <a:ext cx="72000" cy="5616624"/>
            <a:chOff x="-456728" y="620688"/>
            <a:chExt cx="216000" cy="5616624"/>
          </a:xfrm>
        </p:grpSpPr>
        <p:cxnSp>
          <p:nvCxnSpPr>
            <p:cNvPr id="23" name="Gerader Verbinder 22"/>
            <p:cNvCxnSpPr/>
            <p:nvPr userDrawn="1"/>
          </p:nvCxnSpPr>
          <p:spPr bwMode="gray">
            <a:xfrm>
              <a:off x="-456728" y="620688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 bwMode="gray">
            <a:xfrm>
              <a:off x="-456728" y="6237312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80C130E-FFAB-1C25-18E3-9DA5F46EA753}"/>
                </a:ext>
              </a:extLst>
            </p:cNvPr>
            <p:cNvCxnSpPr/>
            <p:nvPr userDrawn="1"/>
          </p:nvCxnSpPr>
          <p:spPr bwMode="gray">
            <a:xfrm>
              <a:off x="-456728" y="1772816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8F8F8B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208112" y="6525360"/>
            <a:ext cx="36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8F8F8B"/>
                </a:solidFill>
                <a:latin typeface="+mj-lt"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format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black">
          <a:xfrm>
            <a:off x="623888" y="1773239"/>
            <a:ext cx="10944225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C9C158-0880-C88E-392B-303801BF3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3888" y="-279400"/>
            <a:ext cx="10946176" cy="108000"/>
            <a:chOff x="623888" y="-279400"/>
            <a:chExt cx="10946176" cy="108000"/>
          </a:xfrm>
        </p:grpSpPr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B3F183F-4A20-C039-6CFB-C8BE6BB2E79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23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12">
              <a:extLst>
                <a:ext uri="{FF2B5EF4-FFF2-40B4-BE49-F238E27FC236}">
                  <a16:creationId xmlns:a16="http://schemas.microsoft.com/office/drawing/2014/main" id="{7D3B68E6-D823-99B9-04BD-0843824B55E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99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12">
              <a:extLst>
                <a:ext uri="{FF2B5EF4-FFF2-40B4-BE49-F238E27FC236}">
                  <a16:creationId xmlns:a16="http://schemas.microsoft.com/office/drawing/2014/main" id="{21B6146C-08F9-BFA6-0BD6-E6EEFDCAA66D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775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12">
              <a:extLst>
                <a:ext uri="{FF2B5EF4-FFF2-40B4-BE49-F238E27FC236}">
                  <a16:creationId xmlns:a16="http://schemas.microsoft.com/office/drawing/2014/main" id="{783FDB41-EBA0-848F-CA4B-559246DCCB5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35201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12">
              <a:extLst>
                <a:ext uri="{FF2B5EF4-FFF2-40B4-BE49-F238E27FC236}">
                  <a16:creationId xmlns:a16="http://schemas.microsoft.com/office/drawing/2014/main" id="{9106D7B1-DB33-3E76-F86D-AB80351B250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92814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12">
              <a:extLst>
                <a:ext uri="{FF2B5EF4-FFF2-40B4-BE49-F238E27FC236}">
                  <a16:creationId xmlns:a16="http://schemas.microsoft.com/office/drawing/2014/main" id="{F60363AD-3A82-21AD-833C-E52EF282BC4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50427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12">
              <a:extLst>
                <a:ext uri="{FF2B5EF4-FFF2-40B4-BE49-F238E27FC236}">
                  <a16:creationId xmlns:a16="http://schemas.microsoft.com/office/drawing/2014/main" id="{13680DF0-FAFE-2093-28E7-AD4E8F55B6E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8040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12">
              <a:extLst>
                <a:ext uri="{FF2B5EF4-FFF2-40B4-BE49-F238E27FC236}">
                  <a16:creationId xmlns:a16="http://schemas.microsoft.com/office/drawing/2014/main" id="{D2B39669-1DB7-FB69-8718-9ADC51CC91F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65652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12">
              <a:extLst>
                <a:ext uri="{FF2B5EF4-FFF2-40B4-BE49-F238E27FC236}">
                  <a16:creationId xmlns:a16="http://schemas.microsoft.com/office/drawing/2014/main" id="{F5649386-2689-8590-7E18-09063377FA9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23265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12">
              <a:extLst>
                <a:ext uri="{FF2B5EF4-FFF2-40B4-BE49-F238E27FC236}">
                  <a16:creationId xmlns:a16="http://schemas.microsoft.com/office/drawing/2014/main" id="{9426BA6C-1DAA-DD25-1C50-4D2B214B06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0878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12">
              <a:extLst>
                <a:ext uri="{FF2B5EF4-FFF2-40B4-BE49-F238E27FC236}">
                  <a16:creationId xmlns:a16="http://schemas.microsoft.com/office/drawing/2014/main" id="{271183F4-1370-4769-AD4A-67AB7669FC4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8491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12">
              <a:extLst>
                <a:ext uri="{FF2B5EF4-FFF2-40B4-BE49-F238E27FC236}">
                  <a16:creationId xmlns:a16="http://schemas.microsoft.com/office/drawing/2014/main" id="{C008B0B3-1207-E40A-542B-B9B9DFBC78C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96104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12">
              <a:extLst>
                <a:ext uri="{FF2B5EF4-FFF2-40B4-BE49-F238E27FC236}">
                  <a16:creationId xmlns:a16="http://schemas.microsoft.com/office/drawing/2014/main" id="{A505D355-BA84-FEA9-8B2D-4A52E4E75B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53716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12">
              <a:extLst>
                <a:ext uri="{FF2B5EF4-FFF2-40B4-BE49-F238E27FC236}">
                  <a16:creationId xmlns:a16="http://schemas.microsoft.com/office/drawing/2014/main" id="{C0167BC6-BF16-9AC7-7AB4-9D5DE127D4B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1329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12">
              <a:extLst>
                <a:ext uri="{FF2B5EF4-FFF2-40B4-BE49-F238E27FC236}">
                  <a16:creationId xmlns:a16="http://schemas.microsoft.com/office/drawing/2014/main" id="{19241246-778C-7089-4EF1-64E728B2E2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68942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12">
              <a:extLst>
                <a:ext uri="{FF2B5EF4-FFF2-40B4-BE49-F238E27FC236}">
                  <a16:creationId xmlns:a16="http://schemas.microsoft.com/office/drawing/2014/main" id="{A090D565-38F2-39B7-2B28-735F75E2230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26555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12">
              <a:extLst>
                <a:ext uri="{FF2B5EF4-FFF2-40B4-BE49-F238E27FC236}">
                  <a16:creationId xmlns:a16="http://schemas.microsoft.com/office/drawing/2014/main" id="{98D7EFC9-C38C-3024-FDF1-90F4FB8C924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84168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12">
              <a:extLst>
                <a:ext uri="{FF2B5EF4-FFF2-40B4-BE49-F238E27FC236}">
                  <a16:creationId xmlns:a16="http://schemas.microsoft.com/office/drawing/2014/main" id="{E89575A4-E067-8D9D-C4DD-13F84892247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41780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12">
              <a:extLst>
                <a:ext uri="{FF2B5EF4-FFF2-40B4-BE49-F238E27FC236}">
                  <a16:creationId xmlns:a16="http://schemas.microsoft.com/office/drawing/2014/main" id="{9A690B72-D042-5FB5-9512-D39A15A35AC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99393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12">
              <a:extLst>
                <a:ext uri="{FF2B5EF4-FFF2-40B4-BE49-F238E27FC236}">
                  <a16:creationId xmlns:a16="http://schemas.microsoft.com/office/drawing/2014/main" id="{8C780BB7-0447-94C0-2DB4-1D1542BE719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57006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118D6E-C050-4018-B59E-4C9A1A9EEB9E}"/>
                </a:ext>
              </a:extLst>
            </p:cNvPr>
            <p:cNvCxnSpPr/>
            <p:nvPr userDrawn="1"/>
          </p:nvCxnSpPr>
          <p:spPr bwMode="gray">
            <a:xfrm>
              <a:off x="623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4DA8B5-5EED-4441-E2FB-16E4777E3D14}"/>
                </a:ext>
              </a:extLst>
            </p:cNvPr>
            <p:cNvCxnSpPr/>
            <p:nvPr userDrawn="1"/>
          </p:nvCxnSpPr>
          <p:spPr bwMode="gray">
            <a:xfrm>
              <a:off x="1775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FA00BD-385B-2681-21A7-C6EE95FCAF0E}"/>
                </a:ext>
              </a:extLst>
            </p:cNvPr>
            <p:cNvCxnSpPr/>
            <p:nvPr userDrawn="1"/>
          </p:nvCxnSpPr>
          <p:spPr bwMode="gray">
            <a:xfrm>
              <a:off x="292814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BB6208-E614-A138-0616-30E074C37515}"/>
                </a:ext>
              </a:extLst>
            </p:cNvPr>
            <p:cNvCxnSpPr/>
            <p:nvPr userDrawn="1"/>
          </p:nvCxnSpPr>
          <p:spPr bwMode="gray">
            <a:xfrm>
              <a:off x="408040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8834F7-76D4-750A-3CA2-EFA46107D343}"/>
                </a:ext>
              </a:extLst>
            </p:cNvPr>
            <p:cNvCxnSpPr/>
            <p:nvPr userDrawn="1"/>
          </p:nvCxnSpPr>
          <p:spPr bwMode="gray">
            <a:xfrm>
              <a:off x="523265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A74E96-CB47-B6B0-B61F-39F69B54942B}"/>
                </a:ext>
              </a:extLst>
            </p:cNvPr>
            <p:cNvCxnSpPr/>
            <p:nvPr userDrawn="1"/>
          </p:nvCxnSpPr>
          <p:spPr bwMode="gray">
            <a:xfrm>
              <a:off x="6384912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B7129F-24F4-5E06-E53E-6AFE0F8347A5}"/>
                </a:ext>
              </a:extLst>
            </p:cNvPr>
            <p:cNvCxnSpPr/>
            <p:nvPr userDrawn="1"/>
          </p:nvCxnSpPr>
          <p:spPr bwMode="gray">
            <a:xfrm>
              <a:off x="753716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A5D3E-CA5C-B513-51E8-933FDFFEECB2}"/>
                </a:ext>
              </a:extLst>
            </p:cNvPr>
            <p:cNvCxnSpPr/>
            <p:nvPr userDrawn="1"/>
          </p:nvCxnSpPr>
          <p:spPr bwMode="gray">
            <a:xfrm>
              <a:off x="868942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1B2A69B-253D-1536-1F92-D4C6833FDCE2}"/>
                </a:ext>
              </a:extLst>
            </p:cNvPr>
            <p:cNvCxnSpPr/>
            <p:nvPr userDrawn="1"/>
          </p:nvCxnSpPr>
          <p:spPr bwMode="gray">
            <a:xfrm>
              <a:off x="984168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DD3B66-EB3B-2C1E-08A1-000B49FD1F34}"/>
                </a:ext>
              </a:extLst>
            </p:cNvPr>
            <p:cNvCxnSpPr/>
            <p:nvPr userDrawn="1"/>
          </p:nvCxnSpPr>
          <p:spPr bwMode="gray">
            <a:xfrm>
              <a:off x="1099393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783742F-459B-4ECC-9A88-26A1379C4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9424" y="6525360"/>
            <a:ext cx="230292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rgbClr val="8F8F8B"/>
              </a:solidFill>
              <a:latin typeface="Onest" pitchFamily="2" charset="0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FE5AECB-59B3-7CC7-86CF-79C41D76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3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7" r:id="rId2"/>
    <p:sldLayoutId id="2147483699" r:id="rId3"/>
    <p:sldLayoutId id="2147483695" r:id="rId4"/>
    <p:sldLayoutId id="2147483679" r:id="rId5"/>
    <p:sldLayoutId id="2147483700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Onest Medium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FE41-95C8-9393-215B-62CED757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D8043A1-310A-B52C-CD92-D9214849F47F}"/>
              </a:ext>
            </a:extLst>
          </p:cNvPr>
          <p:cNvSpPr/>
          <p:nvPr/>
        </p:nvSpPr>
        <p:spPr bwMode="gray">
          <a:xfrm>
            <a:off x="0" y="1809995"/>
            <a:ext cx="12192000" cy="418011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0DD886-F601-E5AB-B640-67558F808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9996"/>
            <a:ext cx="12192000" cy="4180114"/>
          </a:xfrm>
          <a:prstGeom prst="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897E70-238A-7AA1-08EB-7B0565F45D6F}"/>
              </a:ext>
            </a:extLst>
          </p:cNvPr>
          <p:cNvSpPr/>
          <p:nvPr/>
        </p:nvSpPr>
        <p:spPr bwMode="gray">
          <a:xfrm>
            <a:off x="6236207" y="2004289"/>
            <a:ext cx="5881901" cy="374996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DA226C-3081-BABB-ACE7-6B5B5BC78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04" y="144297"/>
            <a:ext cx="1962424" cy="10097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57C31F-DE7B-C14D-E209-79C203CA9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241" y="283687"/>
            <a:ext cx="1586287" cy="7493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1F73912-A256-34F3-2422-74176D921AD3}"/>
              </a:ext>
            </a:extLst>
          </p:cNvPr>
          <p:cNvSpPr txBox="1"/>
          <p:nvPr/>
        </p:nvSpPr>
        <p:spPr bwMode="gray">
          <a:xfrm>
            <a:off x="6541008" y="2385365"/>
            <a:ext cx="5350764" cy="5545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>
                <a:solidFill>
                  <a:srgbClr val="EF4C37"/>
                </a:solidFill>
              </a:rPr>
              <a:t>State Level Hackathon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BD3C3E54-E206-5388-F17E-C82C4A47C670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6537960" y="3611880"/>
            <a:ext cx="5349240" cy="1051560"/>
          </a:xfrm>
        </p:spPr>
        <p:txBody>
          <a:bodyPr anchor="t"/>
          <a:lstStyle/>
          <a:p>
            <a:r>
              <a:rPr lang="en-GB" sz="3000" b="1"/>
              <a:t>Fault-Tolerant ADAS Sensor Fusion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2505DB27-A791-37FE-029A-838093D04BF1}"/>
              </a:ext>
            </a:extLst>
          </p:cNvPr>
          <p:cNvSpPr txBox="1">
            <a:spLocks/>
          </p:cNvSpPr>
          <p:nvPr/>
        </p:nvSpPr>
        <p:spPr bwMode="gray">
          <a:xfrm>
            <a:off x="6537960" y="4754880"/>
            <a:ext cx="5349240" cy="7772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0" i="0" kern="1200">
                <a:solidFill>
                  <a:schemeClr val="tx1"/>
                </a:solidFill>
                <a:latin typeface="Onest Medium" pitchFamily="2" charset="0"/>
                <a:ea typeface="+mj-ea"/>
                <a:cs typeface="+mj-cs"/>
              </a:defRPr>
            </a:lvl1pPr>
          </a:lstStyle>
          <a:p>
            <a:pPr>
              <a:spcAft>
                <a:spcPts val="0"/>
              </a:spcAft>
              <a:buFontTx/>
            </a:pPr>
            <a:r>
              <a:rPr lang="en-GB" sz="1600"/>
              <a:t>IR + ultrasonic fusion on QNX SDP 8 and Raspberry Pi 4 that degrades gracefully when a sensor fails.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D836B543-A2E3-B741-8520-921FAE3E1D18}"/>
              </a:ext>
            </a:extLst>
          </p:cNvPr>
          <p:cNvSpPr txBox="1">
            <a:spLocks/>
          </p:cNvSpPr>
          <p:nvPr/>
        </p:nvSpPr>
        <p:spPr>
          <a:xfrm>
            <a:off x="6473952" y="3154680"/>
            <a:ext cx="5184648" cy="36576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50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Onest" pitchFamily="2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108000" indent="-108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-108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Onest" pitchFamily="2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>
                <a:solidFill>
                  <a:srgbClr val="0070C0"/>
                </a:solidFill>
              </a:rPr>
              <a:t>Sync · Thanjavur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99A67B5-04BD-BF89-CAA9-3EFB41074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97869" y="243852"/>
            <a:ext cx="2438434" cy="42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3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F2D68-3D29-F496-362F-2C549E25C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71A3458-C0A6-8F18-DAE4-6F9BE2E4C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0B7DC52-5B75-60FD-0D60-8DABBD4EDFE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/>
              <a:t>Problem Synthesis &amp; Scenario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B8386DE-B0CA-B430-4763-073FB287D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/>
              <a:t>Design and Execution</a:t>
            </a:r>
          </a:p>
        </p:txBody>
      </p:sp>
      <p:sp>
        <p:nvSpPr>
          <p:cNvPr id="101" name="Problem card 1"/>
          <p:cNvSpPr/>
          <p:nvPr/>
        </p:nvSpPr>
        <p:spPr>
          <a:xfrm>
            <a:off x="621792" y="1417320"/>
            <a:ext cx="5989320" cy="141732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02" name="FaCar badge"/>
          <p:cNvSpPr/>
          <p:nvPr/>
        </p:nvSpPr>
        <p:spPr>
          <a:xfrm>
            <a:off x="822960" y="1837944"/>
            <a:ext cx="566928" cy="566928"/>
          </a:xfrm>
          <a:prstGeom prst="ellipse">
            <a:avLst/>
          </a:prstGeom>
          <a:solidFill>
            <a:srgbClr val="FF443A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pic>
        <p:nvPicPr>
          <p:cNvPr id="103" name="FaCar icon" descr="FaC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23" y="1974007"/>
            <a:ext cx="294803" cy="294803"/>
          </a:xfrm>
          <a:prstGeom prst="rect">
            <a:avLst/>
          </a:prstGeom>
        </p:spPr>
      </p:pic>
      <p:sp>
        <p:nvSpPr>
          <p:cNvPr id="104" name="Problem title 1"/>
          <p:cNvSpPr txBox="1"/>
          <p:nvPr/>
        </p:nvSpPr>
        <p:spPr>
          <a:xfrm>
            <a:off x="1600200" y="155448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>
                <a:solidFill>
                  <a:srgbClr val="181C1E"/>
                </a:solidFill>
                <a:latin typeface="+mn-lt"/>
              </a:rPr>
              <a:t>The Scenario</a:t>
            </a:r>
            <a:endParaRPr lang="en-US" sz="1500"/>
          </a:p>
        </p:txBody>
      </p:sp>
      <p:sp>
        <p:nvSpPr>
          <p:cNvPr id="105" name="Problem body 1"/>
          <p:cNvSpPr txBox="1"/>
          <p:nvPr/>
        </p:nvSpPr>
        <p:spPr>
          <a:xfrm>
            <a:off x="1600200" y="1920240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Low-cost ADAS prototypes trust a few cheap sensors. When one fails silently, the vehicle can report a clear road while an obstacle is right ahead.</a:t>
            </a:r>
            <a:endParaRPr lang="en-US" sz="1200"/>
          </a:p>
        </p:txBody>
      </p:sp>
      <p:sp>
        <p:nvSpPr>
          <p:cNvPr id="106" name="Problem card 2"/>
          <p:cNvSpPr/>
          <p:nvPr/>
        </p:nvSpPr>
        <p:spPr>
          <a:xfrm>
            <a:off x="621792" y="3017520"/>
            <a:ext cx="5989320" cy="141732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07" name="FaStopwatch badge"/>
          <p:cNvSpPr/>
          <p:nvPr/>
        </p:nvSpPr>
        <p:spPr>
          <a:xfrm>
            <a:off x="822960" y="3438144"/>
            <a:ext cx="566928" cy="566928"/>
          </a:xfrm>
          <a:prstGeom prst="ellipse">
            <a:avLst/>
          </a:prstGeom>
          <a:solidFill>
            <a:srgbClr val="FF443A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pic>
        <p:nvPicPr>
          <p:cNvPr id="108" name="FaStopwatch icon" descr="FaStopwat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3574207"/>
            <a:ext cx="294803" cy="294803"/>
          </a:xfrm>
          <a:prstGeom prst="rect">
            <a:avLst/>
          </a:prstGeom>
        </p:spPr>
      </p:pic>
      <p:sp>
        <p:nvSpPr>
          <p:cNvPr id="109" name="Problem title 2"/>
          <p:cNvSpPr txBox="1"/>
          <p:nvPr/>
        </p:nvSpPr>
        <p:spPr>
          <a:xfrm>
            <a:off x="1600200" y="315468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>
                <a:solidFill>
                  <a:srgbClr val="181C1E"/>
                </a:solidFill>
                <a:latin typeface="+mn-lt"/>
              </a:rPr>
              <a:t>Why determinism matters</a:t>
            </a:r>
            <a:endParaRPr lang="en-US" sz="1500"/>
          </a:p>
        </p:txBody>
      </p:sp>
      <p:sp>
        <p:nvSpPr>
          <p:cNvPr id="110" name="Problem body 2"/>
          <p:cNvSpPr txBox="1"/>
          <p:nvPr/>
        </p:nvSpPr>
        <p:spPr>
          <a:xfrm>
            <a:off x="1600200" y="3520440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A late or stale reading looks the same as ROAD CLEAR. Faults must be detected within a bounded time, so scheduling jitter becomes a safety risk.</a:t>
            </a:r>
            <a:endParaRPr lang="en-US" sz="1200"/>
          </a:p>
        </p:txBody>
      </p:sp>
      <p:sp>
        <p:nvSpPr>
          <p:cNvPr id="111" name="Problem card 3"/>
          <p:cNvSpPr/>
          <p:nvPr/>
        </p:nvSpPr>
        <p:spPr>
          <a:xfrm>
            <a:off x="621792" y="4617720"/>
            <a:ext cx="5989320" cy="141732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12" name="FaBullseye badge"/>
          <p:cNvSpPr/>
          <p:nvPr/>
        </p:nvSpPr>
        <p:spPr>
          <a:xfrm>
            <a:off x="822960" y="5038344"/>
            <a:ext cx="566928" cy="566928"/>
          </a:xfrm>
          <a:prstGeom prst="ellipse">
            <a:avLst/>
          </a:prstGeom>
          <a:solidFill>
            <a:srgbClr val="FF443A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pic>
        <p:nvPicPr>
          <p:cNvPr id="113" name="FaBullseye icon" descr="FaBullsey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23" y="5174407"/>
            <a:ext cx="294803" cy="294803"/>
          </a:xfrm>
          <a:prstGeom prst="rect">
            <a:avLst/>
          </a:prstGeom>
        </p:spPr>
      </p:pic>
      <p:sp>
        <p:nvSpPr>
          <p:cNvPr id="114" name="Problem title 3"/>
          <p:cNvSpPr txBox="1"/>
          <p:nvPr/>
        </p:nvSpPr>
        <p:spPr>
          <a:xfrm>
            <a:off x="1600200" y="475488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>
                <a:solidFill>
                  <a:srgbClr val="181C1E"/>
                </a:solidFill>
                <a:latin typeface="+mn-lt"/>
              </a:rPr>
              <a:t>Success metric</a:t>
            </a:r>
            <a:endParaRPr lang="en-US" sz="1500"/>
          </a:p>
        </p:txBody>
      </p:sp>
      <p:sp>
        <p:nvSpPr>
          <p:cNvPr id="115" name="Problem body 3"/>
          <p:cNvSpPr txBox="1"/>
          <p:nvPr/>
        </p:nvSpPr>
        <p:spPr>
          <a:xfrm>
            <a:off x="1600200" y="5120640"/>
            <a:ext cx="48006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Any sensor fault or disagreement puts the system in DEGRADED mode, with a warning LED and no false ROAD CLEAR.</a:t>
            </a:r>
            <a:endParaRPr lang="en-US" sz="1200"/>
          </a:p>
        </p:txBody>
      </p:sp>
      <p:sp>
        <p:nvSpPr>
          <p:cNvPr id="116" name="Sensor panel"/>
          <p:cNvSpPr/>
          <p:nvPr/>
        </p:nvSpPr>
        <p:spPr>
          <a:xfrm>
            <a:off x="6903720" y="1417320"/>
            <a:ext cx="4663440" cy="4846320"/>
          </a:xfrm>
          <a:prstGeom prst="roundRect">
            <a:avLst>
              <a:gd name="adj" fmla="val 3500"/>
            </a:avLst>
          </a:prstGeom>
          <a:solidFill>
            <a:srgbClr val="181C1E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17" name="Panel heading"/>
          <p:cNvSpPr txBox="1"/>
          <p:nvPr/>
        </p:nvSpPr>
        <p:spPr>
          <a:xfrm>
            <a:off x="7178040" y="16002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>
                <a:solidFill>
                  <a:srgbClr val="FFFFFF"/>
                </a:solidFill>
                <a:latin typeface="+mn-lt"/>
              </a:rPr>
              <a:t>Two sensors, two different blind spots</a:t>
            </a:r>
            <a:endParaRPr lang="en-US" sz="1500"/>
          </a:p>
        </p:txBody>
      </p:sp>
      <p:sp>
        <p:nvSpPr>
          <p:cNvPr id="118" name="Ultrasonic card"/>
          <p:cNvSpPr/>
          <p:nvPr/>
        </p:nvSpPr>
        <p:spPr>
          <a:xfrm>
            <a:off x="7178040" y="2103120"/>
            <a:ext cx="4114800" cy="1097280"/>
          </a:xfrm>
          <a:prstGeom prst="roundRect">
            <a:avLst>
              <a:gd name="adj" fmla="val 8000"/>
            </a:avLst>
          </a:prstGeom>
          <a:solidFill>
            <a:srgbClr val="2B3033"/>
          </a:solidFill>
          <a:ln>
            <a:noFill/>
          </a:ln>
        </p:spPr>
        <p:txBody>
          <a:bodyPr wrap="square" lIns="182880" tIns="73152" rIns="182880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i="0">
                <a:solidFill>
                  <a:srgbClr val="FF443A"/>
                </a:solidFill>
                <a:latin typeface="+mn-lt"/>
              </a:rPr>
              <a:t>Ultrasonic (HC-SR04)</a:t>
            </a:r>
            <a:endParaRPr lang="en-US" sz="1300"/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0" i="0">
                <a:solidFill>
                  <a:srgbClr val="FFFFFF"/>
                </a:solidFill>
                <a:latin typeface="+mn-lt"/>
              </a:rPr>
              <a:t>Measures distance, 2 to 400 cm</a:t>
            </a:r>
            <a:endParaRPr lang="en-US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FCAC2"/>
                </a:solidFill>
              </a:rPr>
              <a:t>echo</a:t>
            </a:r>
            <a:r>
              <a:rPr lang="en-US" sz="1200" b="0" i="0">
                <a:solidFill>
                  <a:srgbClr val="CFCAC2"/>
                </a:solidFill>
                <a:latin typeface="+mn-lt"/>
              </a:rPr>
              <a:t> timeout, soft or angled surfaces</a:t>
            </a:r>
            <a:endParaRPr lang="en-US" sz="1200"/>
          </a:p>
        </p:txBody>
      </p:sp>
      <p:sp>
        <p:nvSpPr>
          <p:cNvPr id="119" name="IR card"/>
          <p:cNvSpPr/>
          <p:nvPr/>
        </p:nvSpPr>
        <p:spPr>
          <a:xfrm>
            <a:off x="7178040" y="3383280"/>
            <a:ext cx="4114800" cy="1097280"/>
          </a:xfrm>
          <a:prstGeom prst="roundRect">
            <a:avLst>
              <a:gd name="adj" fmla="val 8000"/>
            </a:avLst>
          </a:prstGeom>
          <a:solidFill>
            <a:srgbClr val="2B3033"/>
          </a:solidFill>
          <a:ln>
            <a:noFill/>
          </a:ln>
        </p:spPr>
        <p:txBody>
          <a:bodyPr wrap="square" lIns="182880" tIns="73152" rIns="182880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300" b="1" i="0">
                <a:solidFill>
                  <a:srgbClr val="FF443A"/>
                </a:solidFill>
                <a:latin typeface="+mn-lt"/>
              </a:rPr>
              <a:t>Digital IR obstacle sensor</a:t>
            </a:r>
            <a:endParaRPr lang="en-US" sz="1300"/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0" i="0">
                <a:solidFill>
                  <a:srgbClr val="FFFFFF"/>
                </a:solidFill>
                <a:latin typeface="+mn-lt"/>
              </a:rPr>
              <a:t>Obstacle yes / no, LOW means obstacle</a:t>
            </a:r>
            <a:endParaRPr lang="en-US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CFCAC2"/>
                </a:solidFill>
                <a:latin typeface="+mn-lt"/>
              </a:rPr>
              <a:t>sunlight, dark surfaces, stuck output</a:t>
            </a:r>
            <a:endParaRPr lang="en-US" sz="1200"/>
          </a:p>
        </p:txBody>
      </p:sp>
      <p:sp>
        <p:nvSpPr>
          <p:cNvPr id="120" name="Conflict example"/>
          <p:cNvSpPr txBox="1"/>
          <p:nvPr/>
        </p:nvSpPr>
        <p:spPr>
          <a:xfrm>
            <a:off x="7178040" y="466344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+mn-lt"/>
              </a:rPr>
              <a:t>Example conflict: </a:t>
            </a:r>
            <a:r>
              <a:rPr lang="en-US" sz="1200" b="0" i="0">
                <a:solidFill>
                  <a:srgbClr val="FFFFFF"/>
                </a:solidFill>
                <a:latin typeface="+mn-lt"/>
              </a:rPr>
              <a:t>IR = OBSTACLE but ultrasonic = 45 cm. Which one is right?</a:t>
            </a:r>
            <a:endParaRPr lang="en-US" sz="1200"/>
          </a:p>
        </p:txBody>
      </p:sp>
      <p:sp>
        <p:nvSpPr>
          <p:cNvPr id="121" name="Panel conclusion"/>
          <p:cNvSpPr/>
          <p:nvPr/>
        </p:nvSpPr>
        <p:spPr>
          <a:xfrm>
            <a:off x="7178040" y="5303520"/>
            <a:ext cx="4114800" cy="685800"/>
          </a:xfrm>
          <a:prstGeom prst="roundRect">
            <a:avLst>
              <a:gd name="adj" fmla="val 12000"/>
            </a:avLst>
          </a:prstGeom>
          <a:solidFill>
            <a:srgbClr val="FF443A"/>
          </a:solidFill>
          <a:ln>
            <a:noFill/>
          </a:ln>
        </p:spPr>
        <p:txBody>
          <a:bodyPr wrap="square" lIns="137160" tIns="45720" rIns="13716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FFFFF"/>
                </a:solidFill>
                <a:latin typeface="+mn-lt"/>
              </a:rPr>
              <a:t>Fault or disagreement: DEGRADED mode, never a false ROAD CLEAR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822339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A877-05DA-5AD5-C1EE-EE47A693C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D102912-9A6C-96DE-7A6D-462EA1632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73336FB-256D-F8C5-EAC3-6EE92DC72FC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/>
              <a:t>QNX Architectural Approach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CD74172-BF54-461F-90E4-43392F084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/>
              <a:t>Design and Execution</a:t>
            </a:r>
          </a:p>
        </p:txBody>
      </p:sp>
      <p:sp>
        <p:nvSpPr>
          <p:cNvPr id="101" name="Concept 1"/>
          <p:cNvSpPr/>
          <p:nvPr/>
        </p:nvSpPr>
        <p:spPr>
          <a:xfrm>
            <a:off x="621792" y="1417320"/>
            <a:ext cx="3465576" cy="187452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02" name="FaMicrochip badge"/>
          <p:cNvSpPr/>
          <p:nvPr/>
        </p:nvSpPr>
        <p:spPr>
          <a:xfrm>
            <a:off x="804672" y="1600200"/>
            <a:ext cx="502920" cy="502920"/>
          </a:xfrm>
          <a:prstGeom prst="ellipse">
            <a:avLst/>
          </a:prstGeom>
          <a:solidFill>
            <a:srgbClr val="FF443A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pic>
        <p:nvPicPr>
          <p:cNvPr id="103" name="FaMicrochip icon" descr="FaMicrochi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3" y="1720901"/>
            <a:ext cx="261518" cy="261518"/>
          </a:xfrm>
          <a:prstGeom prst="rect">
            <a:avLst/>
          </a:prstGeom>
        </p:spPr>
      </p:pic>
      <p:sp>
        <p:nvSpPr>
          <p:cNvPr id="104" name="Concept 1 title"/>
          <p:cNvSpPr txBox="1"/>
          <p:nvPr/>
        </p:nvSpPr>
        <p:spPr>
          <a:xfrm>
            <a:off x="1444752" y="1600200"/>
            <a:ext cx="24597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Microkernel, isolated services</a:t>
            </a:r>
            <a:endParaRPr lang="en-US" sz="1400"/>
          </a:p>
        </p:txBody>
      </p:sp>
      <p:sp>
        <p:nvSpPr>
          <p:cNvPr id="105" name="Concept 1 body"/>
          <p:cNvSpPr txBox="1"/>
          <p:nvPr/>
        </p:nvSpPr>
        <p:spPr>
          <a:xfrm>
            <a:off x="804672" y="2240280"/>
            <a:ext cx="3099816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Drivers (i2c, spi, io-sock, wdtkick) run as separate user-space processes. Our qnx_adas_sf is one more protected process.</a:t>
            </a:r>
            <a:endParaRPr lang="en-US" sz="1200"/>
          </a:p>
        </p:txBody>
      </p:sp>
      <p:sp>
        <p:nvSpPr>
          <p:cNvPr id="106" name="Concept 2"/>
          <p:cNvSpPr/>
          <p:nvPr/>
        </p:nvSpPr>
        <p:spPr>
          <a:xfrm>
            <a:off x="4361688" y="1417320"/>
            <a:ext cx="3465576" cy="187452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07" name="FaCodeBranch badge"/>
          <p:cNvSpPr/>
          <p:nvPr/>
        </p:nvSpPr>
        <p:spPr>
          <a:xfrm>
            <a:off x="4544568" y="1600200"/>
            <a:ext cx="502920" cy="502920"/>
          </a:xfrm>
          <a:prstGeom prst="ellipse">
            <a:avLst/>
          </a:prstGeom>
          <a:solidFill>
            <a:srgbClr val="FF443A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pic>
        <p:nvPicPr>
          <p:cNvPr id="108" name="FaCodeBranch icon" descr="FaCodeBran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269" y="1720901"/>
            <a:ext cx="261518" cy="261518"/>
          </a:xfrm>
          <a:prstGeom prst="rect">
            <a:avLst/>
          </a:prstGeom>
        </p:spPr>
      </p:pic>
      <p:sp>
        <p:nvSpPr>
          <p:cNvPr id="109" name="Concept 2 title"/>
          <p:cNvSpPr txBox="1"/>
          <p:nvPr/>
        </p:nvSpPr>
        <p:spPr>
          <a:xfrm>
            <a:off x="5184648" y="1600200"/>
            <a:ext cx="24597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POSIX threads</a:t>
            </a:r>
            <a:endParaRPr lang="en-US" sz="1400"/>
          </a:p>
        </p:txBody>
      </p:sp>
      <p:sp>
        <p:nvSpPr>
          <p:cNvPr id="110" name="Concept 2 body"/>
          <p:cNvSpPr txBox="1"/>
          <p:nvPr/>
        </p:nvSpPr>
        <p:spPr>
          <a:xfrm>
            <a:off x="4544568" y="2240280"/>
            <a:ext cx="3099816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Main plus 6 worker threads: ultrasonic, IR, fusion, watchdog, logger and LED. Each has its own period and one job.</a:t>
            </a:r>
            <a:endParaRPr lang="en-US" sz="1200"/>
          </a:p>
        </p:txBody>
      </p:sp>
      <p:sp>
        <p:nvSpPr>
          <p:cNvPr id="111" name="Concept 3"/>
          <p:cNvSpPr/>
          <p:nvPr/>
        </p:nvSpPr>
        <p:spPr>
          <a:xfrm>
            <a:off x="8101584" y="1417320"/>
            <a:ext cx="3465576" cy="187452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12" name="FaLock badge"/>
          <p:cNvSpPr/>
          <p:nvPr/>
        </p:nvSpPr>
        <p:spPr>
          <a:xfrm>
            <a:off x="8284464" y="1600200"/>
            <a:ext cx="502920" cy="502920"/>
          </a:xfrm>
          <a:prstGeom prst="ellipse">
            <a:avLst/>
          </a:prstGeom>
          <a:solidFill>
            <a:srgbClr val="FF443A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pic>
        <p:nvPicPr>
          <p:cNvPr id="113" name="FaLock icon" descr="Fa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165" y="1720901"/>
            <a:ext cx="261518" cy="261518"/>
          </a:xfrm>
          <a:prstGeom prst="rect">
            <a:avLst/>
          </a:prstGeom>
        </p:spPr>
      </p:pic>
      <p:sp>
        <p:nvSpPr>
          <p:cNvPr id="114" name="Concept 3 title"/>
          <p:cNvSpPr txBox="1"/>
          <p:nvPr/>
        </p:nvSpPr>
        <p:spPr>
          <a:xfrm>
            <a:off x="8924544" y="1600200"/>
            <a:ext cx="24597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Mutex-protected shared state</a:t>
            </a:r>
            <a:endParaRPr lang="en-US" sz="1400"/>
          </a:p>
        </p:txBody>
      </p:sp>
      <p:sp>
        <p:nvSpPr>
          <p:cNvPr id="115" name="Concept 3 body"/>
          <p:cNvSpPr txBox="1"/>
          <p:nvPr/>
        </p:nvSpPr>
        <p:spPr>
          <a:xfrm>
            <a:off x="8284464" y="2240280"/>
            <a:ext cx="3099816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One data_mutex guards SensorData. Fusion copies a snapshot, then unlocks before any print or log: short critical sections.</a:t>
            </a:r>
            <a:endParaRPr lang="en-US" sz="1200"/>
          </a:p>
        </p:txBody>
      </p:sp>
      <p:sp>
        <p:nvSpPr>
          <p:cNvPr id="116" name="Concept 4"/>
          <p:cNvSpPr/>
          <p:nvPr/>
        </p:nvSpPr>
        <p:spPr>
          <a:xfrm>
            <a:off x="621792" y="3520440"/>
            <a:ext cx="3465576" cy="187452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17" name="FaExchangeAlt badge"/>
          <p:cNvSpPr/>
          <p:nvPr/>
        </p:nvSpPr>
        <p:spPr>
          <a:xfrm>
            <a:off x="804672" y="3703320"/>
            <a:ext cx="502920" cy="502920"/>
          </a:xfrm>
          <a:prstGeom prst="ellipse">
            <a:avLst/>
          </a:prstGeom>
          <a:solidFill>
            <a:srgbClr val="FF443A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pic>
        <p:nvPicPr>
          <p:cNvPr id="118" name="FaExchangeAlt icon" descr="FaExchangeA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3" y="3824021"/>
            <a:ext cx="261518" cy="261518"/>
          </a:xfrm>
          <a:prstGeom prst="rect">
            <a:avLst/>
          </a:prstGeom>
        </p:spPr>
      </p:pic>
      <p:sp>
        <p:nvSpPr>
          <p:cNvPr id="119" name="Concept 4 title"/>
          <p:cNvSpPr txBox="1"/>
          <p:nvPr/>
        </p:nvSpPr>
        <p:spPr>
          <a:xfrm>
            <a:off x="1444752" y="3703320"/>
            <a:ext cx="24597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Condvar producer-consumer</a:t>
            </a:r>
            <a:endParaRPr lang="en-US" sz="1400"/>
          </a:p>
        </p:txBody>
      </p:sp>
      <p:sp>
        <p:nvSpPr>
          <p:cNvPr id="120" name="Concept 4 body"/>
          <p:cNvSpPr txBox="1"/>
          <p:nvPr/>
        </p:nvSpPr>
        <p:spPr>
          <a:xfrm>
            <a:off x="804672" y="4343400"/>
            <a:ext cx="3099816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log_event() writes to a 32-slot ring buffer and signals a condition variable. Only the logger touches the file; drops are counted, never blocked on.</a:t>
            </a:r>
            <a:endParaRPr lang="en-US" sz="1200"/>
          </a:p>
        </p:txBody>
      </p:sp>
      <p:sp>
        <p:nvSpPr>
          <p:cNvPr id="121" name="Concept 5"/>
          <p:cNvSpPr/>
          <p:nvPr/>
        </p:nvSpPr>
        <p:spPr>
          <a:xfrm>
            <a:off x="4361688" y="3520440"/>
            <a:ext cx="3465576" cy="187452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22" name="FaClock badge"/>
          <p:cNvSpPr/>
          <p:nvPr/>
        </p:nvSpPr>
        <p:spPr>
          <a:xfrm>
            <a:off x="4544568" y="3703320"/>
            <a:ext cx="502920" cy="502920"/>
          </a:xfrm>
          <a:prstGeom prst="ellipse">
            <a:avLst/>
          </a:prstGeom>
          <a:solidFill>
            <a:srgbClr val="FF443A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pic>
        <p:nvPicPr>
          <p:cNvPr id="123" name="FaClock icon" descr="FaClo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269" y="3824021"/>
            <a:ext cx="261518" cy="261518"/>
          </a:xfrm>
          <a:prstGeom prst="rect">
            <a:avLst/>
          </a:prstGeom>
        </p:spPr>
      </p:pic>
      <p:sp>
        <p:nvSpPr>
          <p:cNvPr id="124" name="Concept 5 title"/>
          <p:cNvSpPr txBox="1"/>
          <p:nvPr/>
        </p:nvSpPr>
        <p:spPr>
          <a:xfrm>
            <a:off x="5184648" y="3703320"/>
            <a:ext cx="24597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Deterministic time</a:t>
            </a:r>
            <a:endParaRPr lang="en-US" sz="1400"/>
          </a:p>
        </p:txBody>
      </p:sp>
      <p:sp>
        <p:nvSpPr>
          <p:cNvPr id="125" name="Concept 5 body"/>
          <p:cNvSpPr txBox="1"/>
          <p:nvPr/>
        </p:nvSpPr>
        <p:spPr>
          <a:xfrm>
            <a:off x="4544568" y="4343400"/>
            <a:ext cx="3099816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CLOCK_MONOTONIC nanosecond stamps, EINTR-safe nanosleep periods, and deadline checks for stale data and missed heartbeats.</a:t>
            </a:r>
            <a:endParaRPr lang="en-US" sz="1200"/>
          </a:p>
        </p:txBody>
      </p:sp>
      <p:sp>
        <p:nvSpPr>
          <p:cNvPr id="126" name="Concept 6"/>
          <p:cNvSpPr/>
          <p:nvPr/>
        </p:nvSpPr>
        <p:spPr>
          <a:xfrm>
            <a:off x="8101584" y="3520440"/>
            <a:ext cx="3465576" cy="187452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27" name="FaMemory badge"/>
          <p:cNvSpPr/>
          <p:nvPr/>
        </p:nvSpPr>
        <p:spPr>
          <a:xfrm>
            <a:off x="8284464" y="3703320"/>
            <a:ext cx="502920" cy="502920"/>
          </a:xfrm>
          <a:prstGeom prst="ellipse">
            <a:avLst/>
          </a:prstGeom>
          <a:solidFill>
            <a:srgbClr val="FF443A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pic>
        <p:nvPicPr>
          <p:cNvPr id="128" name="FaMemory icon" descr="FaMemor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5165" y="3824021"/>
            <a:ext cx="261518" cy="261518"/>
          </a:xfrm>
          <a:prstGeom prst="rect">
            <a:avLst/>
          </a:prstGeom>
        </p:spPr>
      </p:pic>
      <p:sp>
        <p:nvSpPr>
          <p:cNvPr id="129" name="Concept 6 title"/>
          <p:cNvSpPr txBox="1"/>
          <p:nvPr/>
        </p:nvSpPr>
        <p:spPr>
          <a:xfrm>
            <a:off x="8924544" y="3703320"/>
            <a:ext cx="24597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Direct hardware access</a:t>
            </a:r>
            <a:endParaRPr lang="en-US" sz="1400"/>
          </a:p>
        </p:txBody>
      </p:sp>
      <p:sp>
        <p:nvSpPr>
          <p:cNvPr id="130" name="Concept 6 body"/>
          <p:cNvSpPr txBox="1"/>
          <p:nvPr/>
        </p:nvSpPr>
        <p:spPr>
          <a:xfrm>
            <a:off x="8284464" y="4343400"/>
            <a:ext cx="3099816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ThreadCtl(_NTO_TCTL_IO) and mmap(MAP_PHYS, PROT_NOCACHE) map the BCM2711 GPIO registers at 0xFE200000 for user-space I/O.</a:t>
            </a:r>
            <a:endParaRPr lang="en-US" sz="1200"/>
          </a:p>
        </p:txBody>
      </p:sp>
      <p:sp>
        <p:nvSpPr>
          <p:cNvPr id="131" name="Priority strip"/>
          <p:cNvSpPr/>
          <p:nvPr/>
        </p:nvSpPr>
        <p:spPr>
          <a:xfrm>
            <a:off x="621792" y="5669280"/>
            <a:ext cx="10945368" cy="731520"/>
          </a:xfrm>
          <a:prstGeom prst="roundRect">
            <a:avLst>
              <a:gd name="adj" fmla="val 10000"/>
            </a:avLst>
          </a:prstGeom>
          <a:solidFill>
            <a:srgbClr val="181C1E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32" name="Priority label"/>
          <p:cNvSpPr/>
          <p:nvPr/>
        </p:nvSpPr>
        <p:spPr>
          <a:xfrm>
            <a:off x="621792" y="56692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443A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FFFFFF"/>
                </a:solidFill>
                <a:latin typeface="+mn-lt"/>
              </a:rPr>
              <a:t>Priority setup</a:t>
            </a:r>
            <a:endParaRPr lang="en-US" sz="1400"/>
          </a:p>
        </p:txBody>
      </p:sp>
      <p:sp>
        <p:nvSpPr>
          <p:cNvPr id="133" name="Priority text"/>
          <p:cNvSpPr txBox="1"/>
          <p:nvPr/>
        </p:nvSpPr>
        <p:spPr>
          <a:xfrm>
            <a:off x="2651760" y="5669280"/>
            <a:ext cx="8732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+mn-lt"/>
              </a:rPr>
              <a:t>Today: </a:t>
            </a:r>
            <a:r>
              <a:rPr lang="en-US" sz="1200" b="0" i="0">
                <a:solidFill>
                  <a:srgbClr val="FFFFFF"/>
                </a:solidFill>
                <a:latin typeface="+mn-lt"/>
              </a:rPr>
              <a:t>all threads run at the default 10r (round-robin), as seen in Momentics. </a:t>
            </a:r>
            <a:r>
              <a:rPr lang="en-US" sz="1200" b="1" i="0">
                <a:solidFill>
                  <a:srgbClr val="FFFFFF"/>
                </a:solidFill>
                <a:latin typeface="+mn-lt"/>
              </a:rPr>
              <a:t>Hardening plan: </a:t>
            </a:r>
            <a:r>
              <a:rPr lang="en-US" sz="1200" b="0" i="0">
                <a:solidFill>
                  <a:srgbClr val="FFFFFF"/>
                </a:solidFill>
                <a:latin typeface="+mn-lt"/>
              </a:rPr>
              <a:t>SCHED_FIFO with Watchdog &gt; Fusion &gt; IR &gt; Ultrasonic &gt; LED/Logger, priority-inheritance mutexes, CPU affinity on the RPi 4 cores.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63571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D76F-8378-D232-3FE3-4A6AB0BF4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45495C2-BA14-D41C-C129-50A77EBE8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28CED4A-5028-4DD0-838E-BA873F9BA2A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/>
              <a:t>Technical Execution (Hardware &amp; Logic)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1A2076-B9BD-803B-BC85-ADE20F5E2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/>
              <a:t>Design and Execution</a:t>
            </a:r>
          </a:p>
        </p:txBody>
      </p:sp>
      <p:sp>
        <p:nvSpPr>
          <p:cNvPr id="101" name="Ultrasonic sensor"/>
          <p:cNvSpPr/>
          <p:nvPr/>
        </p:nvSpPr>
        <p:spPr>
          <a:xfrm>
            <a:off x="621792" y="146304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Ultrasonic HC-SR04</a:t>
            </a:r>
            <a:endParaRPr lang="en-US" sz="1400"/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5E5D5A"/>
                </a:solidFill>
                <a:latin typeface="+mn-lt"/>
              </a:rPr>
              <a:t>TRIG GPIO23, ECHO GPIO24</a:t>
            </a:r>
            <a:endParaRPr lang="en-US" sz="1200"/>
          </a:p>
        </p:txBody>
      </p:sp>
      <p:sp>
        <p:nvSpPr>
          <p:cNvPr id="102" name="IR sensor"/>
          <p:cNvSpPr/>
          <p:nvPr/>
        </p:nvSpPr>
        <p:spPr>
          <a:xfrm>
            <a:off x="621792" y="278892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Digital IR sensor</a:t>
            </a:r>
            <a:endParaRPr lang="en-US" sz="1400"/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5E5D5A"/>
                </a:solidFill>
                <a:latin typeface="+mn-lt"/>
              </a:rPr>
              <a:t>GPIO25, LOW = obstacle</a:t>
            </a:r>
            <a:endParaRPr lang="en-US" sz="1200"/>
          </a:p>
        </p:txBody>
      </p:sp>
      <p:sp>
        <p:nvSpPr>
          <p:cNvPr id="103" name="Ultrasonic thread"/>
          <p:cNvSpPr/>
          <p:nvPr/>
        </p:nvSpPr>
        <p:spPr>
          <a:xfrm>
            <a:off x="3319272" y="146304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443A"/>
            </a:solidFill>
          </a:ln>
          <a:effectLst>
            <a:outerShdw blurRad="762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Ultrasonic thread</a:t>
            </a:r>
            <a:endParaRPr lang="en-US" sz="1400"/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5E5D5A"/>
                </a:solidFill>
                <a:latin typeface="+mn-lt"/>
              </a:rPr>
              <a:t>every 60 ms, 5-sample average</a:t>
            </a:r>
            <a:endParaRPr lang="en-US" sz="1200"/>
          </a:p>
        </p:txBody>
      </p:sp>
      <p:sp>
        <p:nvSpPr>
          <p:cNvPr id="104" name="IR thread"/>
          <p:cNvSpPr/>
          <p:nvPr/>
        </p:nvSpPr>
        <p:spPr>
          <a:xfrm>
            <a:off x="3319272" y="278892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443A"/>
            </a:solidFill>
          </a:ln>
          <a:effectLst>
            <a:outerShdw blurRad="762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IR thread</a:t>
            </a:r>
            <a:endParaRPr lang="en-US" sz="1400"/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5E5D5A"/>
                </a:solidFill>
                <a:latin typeface="+mn-lt"/>
              </a:rPr>
              <a:t>every 5 ms, 4-sample majority vote</a:t>
            </a:r>
            <a:endParaRPr lang="en-US" sz="1200"/>
          </a:p>
        </p:txBody>
      </p:sp>
      <p:sp>
        <p:nvSpPr>
          <p:cNvPr id="105" name="Shared data"/>
          <p:cNvSpPr/>
          <p:nvPr/>
        </p:nvSpPr>
        <p:spPr>
          <a:xfrm>
            <a:off x="6016752" y="1463040"/>
            <a:ext cx="2212848" cy="2468880"/>
          </a:xfrm>
          <a:prstGeom prst="roundRect">
            <a:avLst>
              <a:gd name="adj" fmla="val 5000"/>
            </a:avLst>
          </a:prstGeom>
          <a:solidFill>
            <a:srgbClr val="181C1E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b="1" i="0">
                <a:solidFill>
                  <a:srgbClr val="FFFFFF"/>
                </a:solidFill>
                <a:latin typeface="+mn-lt"/>
              </a:rPr>
              <a:t>Shared SensorData</a:t>
            </a:r>
            <a:endParaRPr lang="en-US" sz="1400"/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b="1" i="0">
                <a:solidFill>
                  <a:srgbClr val="FF443A"/>
                </a:solidFill>
                <a:latin typeface="+mn-lt"/>
              </a:rPr>
              <a:t>guarded by data_mutex</a:t>
            </a:r>
            <a:endParaRPr lang="en-US" sz="1200"/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CFCAC2"/>
                </a:solidFill>
                <a:latin typeface="+mn-lt"/>
              </a:rPr>
              <a:t>distance, IR state, validity, error counts, heartbeats, mode</a:t>
            </a:r>
            <a:endParaRPr lang="en-US" sz="1200"/>
          </a:p>
        </p:txBody>
      </p:sp>
      <p:sp>
        <p:nvSpPr>
          <p:cNvPr id="106" name="Fusion thread"/>
          <p:cNvSpPr/>
          <p:nvPr/>
        </p:nvSpPr>
        <p:spPr>
          <a:xfrm>
            <a:off x="8641080" y="146304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F443A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FFFFFF"/>
                </a:solidFill>
                <a:latin typeface="+mn-lt"/>
              </a:rPr>
              <a:t>Fusion thread, 200 ms</a:t>
            </a:r>
            <a:endParaRPr lang="en-US" sz="1400"/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FFFFFF"/>
                </a:solidFill>
                <a:latin typeface="+mn-lt"/>
              </a:rPr>
              <a:t>cross-check, then NORMAL or DEGRADED</a:t>
            </a:r>
            <a:endParaRPr lang="en-US" sz="1200"/>
          </a:p>
        </p:txBody>
      </p:sp>
      <p:sp>
        <p:nvSpPr>
          <p:cNvPr id="107" name="Watchdog thread"/>
          <p:cNvSpPr/>
          <p:nvPr/>
        </p:nvSpPr>
        <p:spPr>
          <a:xfrm>
            <a:off x="8641080" y="278892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443A"/>
            </a:solidFill>
          </a:ln>
          <a:effectLst>
            <a:outerShdw blurRad="762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Watchdog thread, 100 ms</a:t>
            </a:r>
            <a:endParaRPr lang="en-US" sz="1400"/>
          </a:p>
          <a:p>
            <a: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5E5D5A"/>
                </a:solidFill>
                <a:latin typeface="+mn-lt"/>
              </a:rPr>
              <a:t>heartbeat limits 0.5 s and 1 s</a:t>
            </a:r>
            <a:endParaRPr lang="en-US" sz="1200"/>
          </a:p>
        </p:txBody>
      </p:sp>
      <p:cxnSp>
        <p:nvCxnSpPr>
          <p:cNvPr id="108" name="Flow A-B"/>
          <p:cNvCxnSpPr/>
          <p:nvPr/>
        </p:nvCxnSpPr>
        <p:spPr>
          <a:xfrm>
            <a:off x="2907792" y="2034540"/>
            <a:ext cx="411480" cy="0"/>
          </a:xfrm>
          <a:prstGeom prst="straightConnector1">
            <a:avLst/>
          </a:prstGeom>
          <a:ln w="22225">
            <a:solidFill>
              <a:srgbClr val="FF443A"/>
            </a:solidFill>
            <a:tailEnd type="triangle" w="med" len="med"/>
          </a:ln>
        </p:spPr>
      </p:cxnSp>
      <p:cxnSp>
        <p:nvCxnSpPr>
          <p:cNvPr id="109" name="Flow B-C"/>
          <p:cNvCxnSpPr/>
          <p:nvPr/>
        </p:nvCxnSpPr>
        <p:spPr>
          <a:xfrm>
            <a:off x="5605272" y="2034540"/>
            <a:ext cx="411480" cy="0"/>
          </a:xfrm>
          <a:prstGeom prst="straightConnector1">
            <a:avLst/>
          </a:prstGeom>
          <a:ln w="22225">
            <a:solidFill>
              <a:srgbClr val="FF443A"/>
            </a:solidFill>
            <a:tailEnd type="triangle" w="med" len="med"/>
          </a:ln>
        </p:spPr>
      </p:cxnSp>
      <p:cxnSp>
        <p:nvCxnSpPr>
          <p:cNvPr id="110" name="Flow A-B"/>
          <p:cNvCxnSpPr/>
          <p:nvPr/>
        </p:nvCxnSpPr>
        <p:spPr>
          <a:xfrm>
            <a:off x="2907792" y="3360420"/>
            <a:ext cx="411480" cy="0"/>
          </a:xfrm>
          <a:prstGeom prst="straightConnector1">
            <a:avLst/>
          </a:prstGeom>
          <a:ln w="22225">
            <a:solidFill>
              <a:srgbClr val="FF443A"/>
            </a:solidFill>
            <a:tailEnd type="triangle" w="med" len="med"/>
          </a:ln>
        </p:spPr>
      </p:cxnSp>
      <p:cxnSp>
        <p:nvCxnSpPr>
          <p:cNvPr id="111" name="Flow B-C"/>
          <p:cNvCxnSpPr/>
          <p:nvPr/>
        </p:nvCxnSpPr>
        <p:spPr>
          <a:xfrm>
            <a:off x="5605272" y="3360420"/>
            <a:ext cx="411480" cy="0"/>
          </a:xfrm>
          <a:prstGeom prst="straightConnector1">
            <a:avLst/>
          </a:prstGeom>
          <a:ln w="22225">
            <a:solidFill>
              <a:srgbClr val="FF443A"/>
            </a:solidFill>
            <a:tailEnd type="triangle" w="med" len="med"/>
          </a:ln>
        </p:spPr>
      </p:cxnSp>
      <p:cxnSp>
        <p:nvCxnSpPr>
          <p:cNvPr id="112" name="Shared to fusion"/>
          <p:cNvCxnSpPr/>
          <p:nvPr/>
        </p:nvCxnSpPr>
        <p:spPr>
          <a:xfrm>
            <a:off x="8229600" y="2034540"/>
            <a:ext cx="411480" cy="0"/>
          </a:xfrm>
          <a:prstGeom prst="straightConnector1">
            <a:avLst/>
          </a:prstGeom>
          <a:ln w="22225">
            <a:solidFill>
              <a:srgbClr val="FF443A"/>
            </a:solidFill>
            <a:tailEnd type="triangle" w="med" len="med"/>
          </a:ln>
        </p:spPr>
      </p:cxnSp>
      <p:cxnSp>
        <p:nvCxnSpPr>
          <p:cNvPr id="113" name="Shared and watchdog"/>
          <p:cNvCxnSpPr/>
          <p:nvPr/>
        </p:nvCxnSpPr>
        <p:spPr>
          <a:xfrm>
            <a:off x="8229600" y="3360420"/>
            <a:ext cx="411480" cy="0"/>
          </a:xfrm>
          <a:prstGeom prst="straightConnector1">
            <a:avLst/>
          </a:prstGeom>
          <a:ln w="22225">
            <a:solidFill>
              <a:srgbClr val="FF443A"/>
            </a:solidFill>
            <a:headEnd type="triangle" w="med" len="med"/>
            <a:tailEnd type="triangle" w="med" len="med"/>
          </a:ln>
        </p:spPr>
      </p:cxnSp>
      <p:sp>
        <p:nvSpPr>
          <p:cNvPr id="114" name="LED output"/>
          <p:cNvSpPr/>
          <p:nvPr/>
        </p:nvSpPr>
        <p:spPr>
          <a:xfrm>
            <a:off x="621792" y="4114800"/>
            <a:ext cx="498348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F443A"/>
            </a:solidFill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181C1E"/>
                </a:solidFill>
                <a:latin typeface="+mn-lt"/>
              </a:rPr>
              <a:t>LED thread: </a:t>
            </a:r>
            <a:r>
              <a:rPr lang="en-US" sz="1200" b="0" i="0">
                <a:solidFill>
                  <a:srgbClr val="181C1E"/>
                </a:solidFill>
                <a:latin typeface="+mn-lt"/>
              </a:rPr>
              <a:t>GPIO18 blinks every 250 ms in DEGRADED</a:t>
            </a:r>
            <a:endParaRPr lang="en-US" sz="1200"/>
          </a:p>
        </p:txBody>
      </p:sp>
      <p:sp>
        <p:nvSpPr>
          <p:cNvPr id="115" name="Logger lane"/>
          <p:cNvSpPr/>
          <p:nvPr/>
        </p:nvSpPr>
        <p:spPr>
          <a:xfrm>
            <a:off x="6016752" y="4114800"/>
            <a:ext cx="5550408" cy="566928"/>
          </a:xfrm>
          <a:prstGeom prst="roundRect">
            <a:avLst>
              <a:gd name="adj" fmla="val 12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181C1E"/>
                </a:solidFill>
                <a:latin typeface="+mn-lt"/>
              </a:rPr>
              <a:t>Logger: </a:t>
            </a:r>
            <a:r>
              <a:rPr lang="en-US" sz="1200" b="0" i="0">
                <a:solidFill>
                  <a:srgbClr val="181C1E"/>
                </a:solidFill>
                <a:latin typeface="+mn-lt"/>
              </a:rPr>
              <a:t>log_event() → 32-slot queue + condvar → logger thread → /tmp/adas_fault.log</a:t>
            </a:r>
            <a:endParaRPr lang="en-US" sz="1200"/>
          </a:p>
        </p:txBody>
      </p:sp>
      <p:sp>
        <p:nvSpPr>
          <p:cNvPr id="116" name="Logic 1"/>
          <p:cNvSpPr/>
          <p:nvPr/>
        </p:nvSpPr>
        <p:spPr>
          <a:xfrm>
            <a:off x="621792" y="4937760"/>
            <a:ext cx="3465576" cy="141732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17" name="Logic 1 title"/>
          <p:cNvSpPr txBox="1"/>
          <p:nvPr/>
        </p:nvSpPr>
        <p:spPr>
          <a:xfrm>
            <a:off x="804672" y="5074920"/>
            <a:ext cx="309981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Distance</a:t>
            </a:r>
            <a:endParaRPr lang="en-US" sz="1400"/>
          </a:p>
        </p:txBody>
      </p:sp>
      <p:sp>
        <p:nvSpPr>
          <p:cNvPr id="118" name="Logic 1 body"/>
          <p:cNvSpPr txBox="1"/>
          <p:nvPr/>
        </p:nvSpPr>
        <p:spPr>
          <a:xfrm>
            <a:off x="804672" y="5486400"/>
            <a:ext cx="309981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d = echo time × 0.00001715 cm/ns (speed of sound ÷ 2). Valid range 2 to 400 cm; 3 bad reads in a row = fault.</a:t>
            </a:r>
            <a:endParaRPr lang="en-US" sz="1200"/>
          </a:p>
        </p:txBody>
      </p:sp>
      <p:sp>
        <p:nvSpPr>
          <p:cNvPr id="119" name="Logic 2"/>
          <p:cNvSpPr/>
          <p:nvPr/>
        </p:nvSpPr>
        <p:spPr>
          <a:xfrm>
            <a:off x="4361688" y="4937760"/>
            <a:ext cx="3465576" cy="141732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20" name="Logic 2 title"/>
          <p:cNvSpPr txBox="1"/>
          <p:nvPr/>
        </p:nvSpPr>
        <p:spPr>
          <a:xfrm>
            <a:off x="4544568" y="5074920"/>
            <a:ext cx="309981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Fusion rule</a:t>
            </a:r>
            <a:endParaRPr lang="en-US" sz="1400"/>
          </a:p>
        </p:txBody>
      </p:sp>
      <p:sp>
        <p:nvSpPr>
          <p:cNvPr id="121" name="Logic 2 body"/>
          <p:cNvSpPr txBox="1"/>
          <p:nvPr/>
        </p:nvSpPr>
        <p:spPr>
          <a:xfrm>
            <a:off x="4544568" y="5486400"/>
            <a:ext cx="309981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NORMAL: obstacle = IR hit OR distance ≤ 10 cm, else ROAD CLEAR. Printed only when the result changes.</a:t>
            </a:r>
            <a:endParaRPr lang="en-US" sz="1200"/>
          </a:p>
        </p:txBody>
      </p:sp>
      <p:sp>
        <p:nvSpPr>
          <p:cNvPr id="122" name="Logic 3"/>
          <p:cNvSpPr/>
          <p:nvPr/>
        </p:nvSpPr>
        <p:spPr>
          <a:xfrm>
            <a:off x="8101584" y="4937760"/>
            <a:ext cx="3465576" cy="141732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23" name="Logic 3 title"/>
          <p:cNvSpPr txBox="1"/>
          <p:nvPr/>
        </p:nvSpPr>
        <p:spPr>
          <a:xfrm>
            <a:off x="8284464" y="5074920"/>
            <a:ext cx="309981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Disagreement check</a:t>
            </a:r>
            <a:endParaRPr lang="en-US" sz="1400"/>
          </a:p>
        </p:txBody>
      </p:sp>
      <p:sp>
        <p:nvSpPr>
          <p:cNvPr id="124" name="Logic 3 body"/>
          <p:cNvSpPr txBox="1"/>
          <p:nvPr/>
        </p:nvSpPr>
        <p:spPr>
          <a:xfrm>
            <a:off x="8284464" y="5486400"/>
            <a:ext cx="309981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IR says obstacle but distance &gt; 30 cm, or IR clear but distance &lt; 10 cm: switch to DEGRADED.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731999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4FA9-E1B4-8466-BD8D-B0FB99C0A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A84091-A99D-82C0-0886-0B8A6DF0D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A08878D-F475-89A8-C865-0D7A44D2C27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/>
              <a:t>Resilience &amp; Degraded-Mode Response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A62FEF8-2D04-DA96-487E-8CB2CEF0D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/>
              <a:t>Design and Execution</a:t>
            </a:r>
          </a:p>
        </p:txBody>
      </p:sp>
      <p:sp>
        <p:nvSpPr>
          <p:cNvPr id="101" name="NORMAL state"/>
          <p:cNvSpPr/>
          <p:nvPr/>
        </p:nvSpPr>
        <p:spPr>
          <a:xfrm>
            <a:off x="621792" y="1463040"/>
            <a:ext cx="2286000" cy="1920240"/>
          </a:xfrm>
          <a:prstGeom prst="roundRect">
            <a:avLst>
              <a:gd name="adj" fmla="val 7000"/>
            </a:avLst>
          </a:prstGeom>
          <a:solidFill>
            <a:srgbClr val="181C1E"/>
          </a:solidFill>
          <a:ln>
            <a:noFill/>
          </a:ln>
        </p:spPr>
        <p:txBody>
          <a:bodyPr wrap="square" lIns="91440" tIns="91440" rIns="91440" bIns="9144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>
                <a:solidFill>
                  <a:srgbClr val="FFFFFF"/>
                </a:solidFill>
                <a:latin typeface="+mn-lt"/>
              </a:rPr>
              <a:t>NORMAL</a:t>
            </a:r>
            <a:endParaRPr lang="en-US" sz="2000"/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0" i="0">
                <a:solidFill>
                  <a:srgbClr val="FFFFFF"/>
                </a:solidFill>
                <a:latin typeface="+mn-lt"/>
              </a:rPr>
              <a:t>Both sensors valid and agree</a:t>
            </a:r>
            <a:endParaRPr lang="en-US" sz="1200"/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0" i="0">
                <a:solidFill>
                  <a:srgbClr val="FFFFFF"/>
                </a:solidFill>
                <a:latin typeface="+mn-lt"/>
              </a:rPr>
              <a:t>OBSTACLE or ROAD CLEAR</a:t>
            </a:r>
            <a:endParaRPr lang="en-US" sz="120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FFFFFF"/>
                </a:solidFill>
                <a:latin typeface="+mn-lt"/>
              </a:rPr>
              <a:t>LED off</a:t>
            </a:r>
            <a:endParaRPr lang="en-US" sz="1200"/>
          </a:p>
        </p:txBody>
      </p:sp>
      <p:sp>
        <p:nvSpPr>
          <p:cNvPr id="102" name="DEGRADED state"/>
          <p:cNvSpPr/>
          <p:nvPr/>
        </p:nvSpPr>
        <p:spPr>
          <a:xfrm>
            <a:off x="4005072" y="1463040"/>
            <a:ext cx="2286000" cy="1920240"/>
          </a:xfrm>
          <a:prstGeom prst="roundRect">
            <a:avLst>
              <a:gd name="adj" fmla="val 7000"/>
            </a:avLst>
          </a:prstGeom>
          <a:solidFill>
            <a:srgbClr val="FF443A"/>
          </a:solidFill>
          <a:ln>
            <a:noFill/>
          </a:ln>
        </p:spPr>
        <p:txBody>
          <a:bodyPr wrap="square" lIns="91440" tIns="91440" rIns="91440" bIns="9144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i="0">
                <a:solidFill>
                  <a:srgbClr val="FFFFFF"/>
                </a:solidFill>
                <a:latin typeface="+mn-lt"/>
              </a:rPr>
              <a:t>DEGRADED</a:t>
            </a:r>
            <a:endParaRPr lang="en-US" sz="2000"/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0" i="0">
                <a:solidFill>
                  <a:srgbClr val="FFFFFF"/>
                </a:solidFill>
                <a:latin typeface="+mn-lt"/>
              </a:rPr>
              <a:t>Fault reported and logged</a:t>
            </a:r>
            <a:endParaRPr lang="en-US" sz="1200"/>
          </a:p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0" i="0">
                <a:solidFill>
                  <a:srgbClr val="FFFFFF"/>
                </a:solidFill>
                <a:latin typeface="+mn-lt"/>
              </a:rPr>
              <a:t>LED blinks every 250 ms</a:t>
            </a:r>
            <a:endParaRPr lang="en-US" sz="120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FFFFFF"/>
                </a:solidFill>
                <a:latin typeface="+mn-lt"/>
              </a:rPr>
              <a:t>ROAD CLEAR suppressed</a:t>
            </a:r>
            <a:endParaRPr lang="en-US" sz="1200"/>
          </a:p>
        </p:txBody>
      </p:sp>
      <p:cxnSp>
        <p:nvCxnSpPr>
          <p:cNvPr id="103" name="Fault transition"/>
          <p:cNvCxnSpPr/>
          <p:nvPr/>
        </p:nvCxnSpPr>
        <p:spPr>
          <a:xfrm>
            <a:off x="2926080" y="2011680"/>
            <a:ext cx="1060704" cy="0"/>
          </a:xfrm>
          <a:prstGeom prst="straightConnector1">
            <a:avLst/>
          </a:prstGeom>
          <a:ln w="28575">
            <a:solidFill>
              <a:srgbClr val="FF443A"/>
            </a:solidFill>
            <a:tailEnd type="triangle" w="med" len="med"/>
          </a:ln>
        </p:spPr>
      </p:cxnSp>
      <p:cxnSp>
        <p:nvCxnSpPr>
          <p:cNvPr id="104" name="Recovery transition"/>
          <p:cNvCxnSpPr/>
          <p:nvPr/>
        </p:nvCxnSpPr>
        <p:spPr>
          <a:xfrm flipH="1">
            <a:off x="2926080" y="2788920"/>
            <a:ext cx="1060704" cy="0"/>
          </a:xfrm>
          <a:prstGeom prst="straightConnector1">
            <a:avLst/>
          </a:prstGeom>
          <a:ln w="28575">
            <a:solidFill>
              <a:srgbClr val="5E5D5A"/>
            </a:solidFill>
            <a:tailEnd type="triangle" w="med" len="med"/>
          </a:ln>
        </p:spPr>
      </p:cxnSp>
      <p:sp>
        <p:nvSpPr>
          <p:cNvPr id="105" name="Fault label"/>
          <p:cNvSpPr txBox="1"/>
          <p:nvPr/>
        </p:nvSpPr>
        <p:spPr>
          <a:xfrm>
            <a:off x="2926080" y="1691640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F443A"/>
                </a:solidFill>
                <a:latin typeface="+mn-lt"/>
              </a:rPr>
              <a:t>any fault</a:t>
            </a:r>
            <a:endParaRPr lang="en-US" sz="1100"/>
          </a:p>
        </p:txBody>
      </p:sp>
      <p:sp>
        <p:nvSpPr>
          <p:cNvPr id="106" name="Recover label"/>
          <p:cNvSpPr txBox="1"/>
          <p:nvPr/>
        </p:nvSpPr>
        <p:spPr>
          <a:xfrm>
            <a:off x="2926080" y="2834640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5E5D5A"/>
                </a:solidFill>
                <a:latin typeface="+mn-lt"/>
              </a:rPr>
              <a:t>all clear</a:t>
            </a:r>
            <a:endParaRPr lang="en-US" sz="1100"/>
          </a:p>
        </p:txBody>
      </p:sp>
      <p:sp>
        <p:nvSpPr>
          <p:cNvPr id="107" name="Edge triggered note"/>
          <p:cNvSpPr/>
          <p:nvPr/>
        </p:nvSpPr>
        <p:spPr>
          <a:xfrm>
            <a:off x="621792" y="3611880"/>
            <a:ext cx="5669280" cy="640080"/>
          </a:xfrm>
          <a:prstGeom prst="roundRect">
            <a:avLst>
              <a:gd name="adj" fmla="val 12000"/>
            </a:avLst>
          </a:prstGeom>
          <a:solidFill>
            <a:srgbClr val="F4EBE1"/>
          </a:solidFill>
          <a:ln>
            <a:noFill/>
          </a:ln>
        </p:spPr>
        <p:txBody>
          <a:bodyPr wrap="square" lIns="182880" tIns="45720" rIns="182880" bIns="45720" rtlCol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181C1E"/>
                </a:solidFill>
                <a:latin typeface="+mn-lt"/>
              </a:rPr>
              <a:t>Edge-triggered logging: </a:t>
            </a:r>
            <a:r>
              <a:rPr lang="en-US" sz="1200" b="0" i="0">
                <a:solidFill>
                  <a:srgbClr val="181C1E"/>
                </a:solidFill>
                <a:latin typeface="+mn-lt"/>
              </a:rPr>
              <a:t>each fault and recovery is logged once per change, so the event queue never floods.</a:t>
            </a:r>
            <a:endParaRPr lang="en-US" sz="1200"/>
          </a:p>
        </p:txBody>
      </p:sp>
      <p:sp>
        <p:nvSpPr>
          <p:cNvPr id="108" name="Triggers heading"/>
          <p:cNvSpPr txBox="1"/>
          <p:nvPr/>
        </p:nvSpPr>
        <p:spPr>
          <a:xfrm>
            <a:off x="6675120" y="141732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>
                <a:solidFill>
                  <a:srgbClr val="181C1E"/>
                </a:solidFill>
                <a:latin typeface="+mn-lt"/>
              </a:rPr>
              <a:t>What the monitors watch</a:t>
            </a:r>
            <a:endParaRPr lang="en-US" sz="1500"/>
          </a:p>
        </p:txBody>
      </p:sp>
      <p:sp>
        <p:nvSpPr>
          <p:cNvPr id="109" name="Trigger label 1"/>
          <p:cNvSpPr/>
          <p:nvPr/>
        </p:nvSpPr>
        <p:spPr>
          <a:xfrm>
            <a:off x="6675120" y="1828800"/>
            <a:ext cx="1325880" cy="420624"/>
          </a:xfrm>
          <a:prstGeom prst="roundRect">
            <a:avLst>
              <a:gd name="adj" fmla="val 20000"/>
            </a:avLst>
          </a:prstGeom>
          <a:solidFill>
            <a:srgbClr val="FF443A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+mn-lt"/>
              </a:rPr>
              <a:t>Ultrasonic</a:t>
            </a:r>
            <a:endParaRPr lang="en-US" sz="1100"/>
          </a:p>
        </p:txBody>
      </p:sp>
      <p:sp>
        <p:nvSpPr>
          <p:cNvPr id="110" name="Trigger text 1"/>
          <p:cNvSpPr txBox="1"/>
          <p:nvPr/>
        </p:nvSpPr>
        <p:spPr>
          <a:xfrm>
            <a:off x="8138160" y="1828800"/>
            <a:ext cx="3429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3 bad reads in a row (30 ms echo timeout, outside 2 to 400 cm)</a:t>
            </a:r>
            <a:endParaRPr lang="en-US" sz="1200"/>
          </a:p>
        </p:txBody>
      </p:sp>
      <p:sp>
        <p:nvSpPr>
          <p:cNvPr id="111" name="Trigger label 2"/>
          <p:cNvSpPr/>
          <p:nvPr/>
        </p:nvSpPr>
        <p:spPr>
          <a:xfrm>
            <a:off x="6675120" y="2322576"/>
            <a:ext cx="1325880" cy="420624"/>
          </a:xfrm>
          <a:prstGeom prst="roundRect">
            <a:avLst>
              <a:gd name="adj" fmla="val 20000"/>
            </a:avLst>
          </a:prstGeom>
          <a:solidFill>
            <a:srgbClr val="FF443A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+mn-lt"/>
              </a:rPr>
              <a:t>Stale data</a:t>
            </a:r>
            <a:endParaRPr lang="en-US" sz="1100"/>
          </a:p>
        </p:txBody>
      </p:sp>
      <p:sp>
        <p:nvSpPr>
          <p:cNvPr id="112" name="Trigger text 2"/>
          <p:cNvSpPr txBox="1"/>
          <p:nvPr/>
        </p:nvSpPr>
        <p:spPr>
          <a:xfrm>
            <a:off x="8138160" y="2322576"/>
            <a:ext cx="3429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no good sample for 1 s</a:t>
            </a:r>
            <a:endParaRPr lang="en-US" sz="1200"/>
          </a:p>
        </p:txBody>
      </p:sp>
      <p:sp>
        <p:nvSpPr>
          <p:cNvPr id="113" name="Trigger label 3"/>
          <p:cNvSpPr/>
          <p:nvPr/>
        </p:nvSpPr>
        <p:spPr>
          <a:xfrm>
            <a:off x="6675120" y="2816352"/>
            <a:ext cx="1325880" cy="420624"/>
          </a:xfrm>
          <a:prstGeom prst="roundRect">
            <a:avLst>
              <a:gd name="adj" fmla="val 20000"/>
            </a:avLst>
          </a:prstGeom>
          <a:solidFill>
            <a:srgbClr val="FF443A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+mn-lt"/>
              </a:rPr>
              <a:t>Task stall</a:t>
            </a:r>
            <a:endParaRPr lang="en-US" sz="1100"/>
          </a:p>
        </p:txBody>
      </p:sp>
      <p:sp>
        <p:nvSpPr>
          <p:cNvPr id="114" name="Trigger text 3"/>
          <p:cNvSpPr txBox="1"/>
          <p:nvPr/>
        </p:nvSpPr>
        <p:spPr>
          <a:xfrm>
            <a:off x="8138160" y="2816352"/>
            <a:ext cx="3429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watchdog heartbeat missed: 0.5 s sensors, 1 s fusion</a:t>
            </a:r>
            <a:endParaRPr lang="en-US" sz="1200"/>
          </a:p>
        </p:txBody>
      </p:sp>
      <p:sp>
        <p:nvSpPr>
          <p:cNvPr id="115" name="Trigger label 4"/>
          <p:cNvSpPr/>
          <p:nvPr/>
        </p:nvSpPr>
        <p:spPr>
          <a:xfrm>
            <a:off x="6675120" y="3310128"/>
            <a:ext cx="1325880" cy="420624"/>
          </a:xfrm>
          <a:prstGeom prst="roundRect">
            <a:avLst>
              <a:gd name="adj" fmla="val 20000"/>
            </a:avLst>
          </a:prstGeom>
          <a:solidFill>
            <a:srgbClr val="FF443A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+mn-lt"/>
              </a:rPr>
              <a:t>Disagreement</a:t>
            </a:r>
            <a:endParaRPr lang="en-US" sz="1100"/>
          </a:p>
        </p:txBody>
      </p:sp>
      <p:sp>
        <p:nvSpPr>
          <p:cNvPr id="116" name="Trigger text 4"/>
          <p:cNvSpPr txBox="1"/>
          <p:nvPr/>
        </p:nvSpPr>
        <p:spPr>
          <a:xfrm>
            <a:off x="8138160" y="3310128"/>
            <a:ext cx="3429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IR and distance conflict (10 cm and 30 cm limits)</a:t>
            </a:r>
            <a:endParaRPr lang="en-US" sz="1200"/>
          </a:p>
        </p:txBody>
      </p:sp>
      <p:sp>
        <p:nvSpPr>
          <p:cNvPr id="117" name="Trigger label 5"/>
          <p:cNvSpPr/>
          <p:nvPr/>
        </p:nvSpPr>
        <p:spPr>
          <a:xfrm>
            <a:off x="6675120" y="3803904"/>
            <a:ext cx="1325880" cy="420624"/>
          </a:xfrm>
          <a:prstGeom prst="roundRect">
            <a:avLst>
              <a:gd name="adj" fmla="val 20000"/>
            </a:avLst>
          </a:prstGeom>
          <a:solidFill>
            <a:srgbClr val="5E5D5A"/>
          </a:solidFill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+mn-lt"/>
              </a:rPr>
              <a:t>Stuck check</a:t>
            </a:r>
            <a:endParaRPr lang="en-US" sz="1100"/>
          </a:p>
        </p:txBody>
      </p:sp>
      <p:sp>
        <p:nvSpPr>
          <p:cNvPr id="118" name="Trigger text 5"/>
          <p:cNvSpPr txBox="1"/>
          <p:nvPr/>
        </p:nvSpPr>
        <p:spPr>
          <a:xfrm>
            <a:off x="8138160" y="3803904"/>
            <a:ext cx="3429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unchanged for 10 s or 30 s: logged only, static scenes are normal</a:t>
            </a:r>
            <a:endParaRPr lang="en-US" sz="1200"/>
          </a:p>
        </p:txBody>
      </p:sp>
      <p:sp>
        <p:nvSpPr>
          <p:cNvPr id="119" name="Resilience 1"/>
          <p:cNvSpPr/>
          <p:nvPr/>
        </p:nvSpPr>
        <p:spPr>
          <a:xfrm>
            <a:off x="621792" y="4526280"/>
            <a:ext cx="3465576" cy="178308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20" name="FaExclamationTriangle badge"/>
          <p:cNvSpPr/>
          <p:nvPr/>
        </p:nvSpPr>
        <p:spPr>
          <a:xfrm>
            <a:off x="804672" y="4709160"/>
            <a:ext cx="502920" cy="502920"/>
          </a:xfrm>
          <a:prstGeom prst="ellipse">
            <a:avLst/>
          </a:prstGeom>
          <a:solidFill>
            <a:srgbClr val="FF443A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pic>
        <p:nvPicPr>
          <p:cNvPr id="121" name="FaExclamationTriangle icon" descr="FaExclamationTria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3" y="4829861"/>
            <a:ext cx="261518" cy="261518"/>
          </a:xfrm>
          <a:prstGeom prst="rect">
            <a:avLst/>
          </a:prstGeom>
        </p:spPr>
      </p:pic>
      <p:sp>
        <p:nvSpPr>
          <p:cNvPr id="122" name="Resilience 1 title"/>
          <p:cNvSpPr txBox="1"/>
          <p:nvPr/>
        </p:nvSpPr>
        <p:spPr>
          <a:xfrm>
            <a:off x="1444752" y="4709160"/>
            <a:ext cx="24597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The stress</a:t>
            </a:r>
            <a:endParaRPr lang="en-US" sz="1400"/>
          </a:p>
        </p:txBody>
      </p:sp>
      <p:sp>
        <p:nvSpPr>
          <p:cNvPr id="123" name="Resilience 1 body"/>
          <p:cNvSpPr txBox="1"/>
          <p:nvPr/>
        </p:nvSpPr>
        <p:spPr>
          <a:xfrm>
            <a:off x="804672" y="5349240"/>
            <a:ext cx="3099816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The jury unplugs or blocks one sensor, or a thread stalls.</a:t>
            </a:r>
            <a:endParaRPr lang="en-US" sz="1200"/>
          </a:p>
        </p:txBody>
      </p:sp>
      <p:sp>
        <p:nvSpPr>
          <p:cNvPr id="124" name="Resilience 2"/>
          <p:cNvSpPr/>
          <p:nvPr/>
        </p:nvSpPr>
        <p:spPr>
          <a:xfrm>
            <a:off x="4361688" y="4526280"/>
            <a:ext cx="3465576" cy="178308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25" name="FaShieldAlt badge"/>
          <p:cNvSpPr/>
          <p:nvPr/>
        </p:nvSpPr>
        <p:spPr>
          <a:xfrm>
            <a:off x="4544568" y="4709160"/>
            <a:ext cx="502920" cy="502920"/>
          </a:xfrm>
          <a:prstGeom prst="ellipse">
            <a:avLst/>
          </a:prstGeom>
          <a:solidFill>
            <a:srgbClr val="FF443A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pic>
        <p:nvPicPr>
          <p:cNvPr id="126" name="FaShieldAlt icon" descr="FaShieldA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269" y="4829861"/>
            <a:ext cx="261518" cy="261518"/>
          </a:xfrm>
          <a:prstGeom prst="rect">
            <a:avLst/>
          </a:prstGeom>
        </p:spPr>
      </p:pic>
      <p:sp>
        <p:nvSpPr>
          <p:cNvPr id="127" name="Resilience 2 title"/>
          <p:cNvSpPr txBox="1"/>
          <p:nvPr/>
        </p:nvSpPr>
        <p:spPr>
          <a:xfrm>
            <a:off x="5184648" y="4709160"/>
            <a:ext cx="24597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Mitigation</a:t>
            </a:r>
            <a:endParaRPr lang="en-US" sz="1400"/>
          </a:p>
        </p:txBody>
      </p:sp>
      <p:sp>
        <p:nvSpPr>
          <p:cNvPr id="128" name="Resilience 2 body"/>
          <p:cNvSpPr txBox="1"/>
          <p:nvPr/>
        </p:nvSpPr>
        <p:spPr>
          <a:xfrm>
            <a:off x="4544568" y="5349240"/>
            <a:ext cx="3099816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Validity checks, watchdog and cross-check flip to DEGRADED in about 0.5 s; the logger records it without blocking.</a:t>
            </a:r>
            <a:endParaRPr lang="en-US" sz="1200"/>
          </a:p>
        </p:txBody>
      </p:sp>
      <p:sp>
        <p:nvSpPr>
          <p:cNvPr id="129" name="Resilience 3"/>
          <p:cNvSpPr/>
          <p:nvPr/>
        </p:nvSpPr>
        <p:spPr>
          <a:xfrm>
            <a:off x="8101584" y="4526280"/>
            <a:ext cx="3465576" cy="178308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30" name="FaSyncAlt badge"/>
          <p:cNvSpPr/>
          <p:nvPr/>
        </p:nvSpPr>
        <p:spPr>
          <a:xfrm>
            <a:off x="8284464" y="4709160"/>
            <a:ext cx="502920" cy="502920"/>
          </a:xfrm>
          <a:prstGeom prst="ellipse">
            <a:avLst/>
          </a:prstGeom>
          <a:solidFill>
            <a:srgbClr val="FF443A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pic>
        <p:nvPicPr>
          <p:cNvPr id="131" name="FaSyncAlt icon" descr="FaSyncA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165" y="4829861"/>
            <a:ext cx="261518" cy="261518"/>
          </a:xfrm>
          <a:prstGeom prst="rect">
            <a:avLst/>
          </a:prstGeom>
        </p:spPr>
      </p:pic>
      <p:sp>
        <p:nvSpPr>
          <p:cNvPr id="132" name="Resilience 3 title"/>
          <p:cNvSpPr txBox="1"/>
          <p:nvPr/>
        </p:nvSpPr>
        <p:spPr>
          <a:xfrm>
            <a:off x="8924544" y="4709160"/>
            <a:ext cx="24597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Recovery</a:t>
            </a:r>
            <a:endParaRPr lang="en-US" sz="1400"/>
          </a:p>
        </p:txBody>
      </p:sp>
      <p:sp>
        <p:nvSpPr>
          <p:cNvPr id="133" name="Resilience 3 body"/>
          <p:cNvSpPr txBox="1"/>
          <p:nvPr/>
        </p:nvSpPr>
        <p:spPr>
          <a:xfrm>
            <a:off x="8284464" y="5349240"/>
            <a:ext cx="3099816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Automatic. First good reading plus the next 200 ms fusion cycle returns to NORMAL (about 0.3 s by design).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547057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D8573-C84A-83F4-1C50-1A15F049E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B69A53A-B832-E49D-072C-F7189CBBD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FEC246-0678-518C-D44B-1678663EA76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/>
              <a:t>Performance Proof (The Profiler Slide)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9E61258-F087-921F-1272-FD8F21AAAE85}"/>
              </a:ext>
            </a:extLst>
          </p:cNvPr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>
            <a:r>
              <a:rPr lang="en-US"/>
              <a:t>Demonstration</a:t>
            </a:r>
          </a:p>
        </p:txBody>
      </p:sp>
      <p:pic>
        <p:nvPicPr>
          <p:cNvPr id="101" name="Momentics target process list" descr="QNX Momentics target process list showing qnx_adas_sf running with QNX system servi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17320"/>
            <a:ext cx="2537164" cy="4343400"/>
          </a:xfrm>
          <a:prstGeom prst="rect">
            <a:avLst/>
          </a:prstGeom>
          <a:ln w="9525">
            <a:solidFill>
              <a:srgbClr val="D9D4CC"/>
            </a:solidFill>
          </a:ln>
        </p:spPr>
      </p:pic>
      <p:sp>
        <p:nvSpPr>
          <p:cNvPr id="102" name="Caption 1"/>
          <p:cNvSpPr txBox="1"/>
          <p:nvPr/>
        </p:nvSpPr>
        <p:spPr>
          <a:xfrm>
            <a:off x="621792" y="5833872"/>
            <a:ext cx="29029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>
                <a:solidFill>
                  <a:srgbClr val="5E5D5A"/>
                </a:solidFill>
                <a:latin typeface="+mn-lt"/>
              </a:rPr>
              <a:t>Target 10.0.0.1: qnx_adas_sf runs beside QNX services</a:t>
            </a:r>
            <a:endParaRPr lang="en-US" sz="1000"/>
          </a:p>
        </p:txBody>
      </p:sp>
      <p:pic>
        <p:nvPicPr>
          <p:cNvPr id="103" name="Momentics process information" descr="Momentics Process Information view listing the 7 threads of qnx_adas_sf with state and CPU ti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716" y="1498600"/>
            <a:ext cx="8042444" cy="2209518"/>
          </a:xfrm>
          <a:prstGeom prst="rect">
            <a:avLst/>
          </a:prstGeom>
          <a:ln w="9525">
            <a:solidFill>
              <a:srgbClr val="D9D4CC"/>
            </a:solidFill>
          </a:ln>
        </p:spPr>
      </p:pic>
      <p:sp>
        <p:nvSpPr>
          <p:cNvPr id="104" name="Stat card 1"/>
          <p:cNvSpPr/>
          <p:nvPr/>
        </p:nvSpPr>
        <p:spPr>
          <a:xfrm>
            <a:off x="3524716" y="3855438"/>
            <a:ext cx="2497935" cy="160020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05" name="Stat value 1"/>
          <p:cNvSpPr txBox="1"/>
          <p:nvPr/>
        </p:nvSpPr>
        <p:spPr>
          <a:xfrm>
            <a:off x="3707596" y="3965166"/>
            <a:ext cx="21321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FF443A"/>
                </a:solidFill>
                <a:latin typeface="+mn-lt"/>
              </a:rPr>
              <a:t>7 threads</a:t>
            </a:r>
            <a:endParaRPr lang="en-US" sz="2800"/>
          </a:p>
        </p:txBody>
      </p:sp>
      <p:sp>
        <p:nvSpPr>
          <p:cNvPr id="106" name="Stat text 1"/>
          <p:cNvSpPr txBox="1"/>
          <p:nvPr/>
        </p:nvSpPr>
        <p:spPr>
          <a:xfrm>
            <a:off x="3707596" y="4568670"/>
            <a:ext cx="2132175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Main in Join plus 6 workers, matching the design.</a:t>
            </a:r>
            <a:endParaRPr lang="en-US" sz="1200"/>
          </a:p>
        </p:txBody>
      </p:sp>
      <p:sp>
        <p:nvSpPr>
          <p:cNvPr id="107" name="Stat card 2"/>
          <p:cNvSpPr/>
          <p:nvPr/>
        </p:nvSpPr>
        <p:spPr>
          <a:xfrm>
            <a:off x="6296971" y="3855438"/>
            <a:ext cx="2497935" cy="160020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08" name="Stat value 2"/>
          <p:cNvSpPr txBox="1"/>
          <p:nvPr/>
        </p:nvSpPr>
        <p:spPr>
          <a:xfrm>
            <a:off x="6479851" y="3965166"/>
            <a:ext cx="21321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FF443A"/>
                </a:solidFill>
                <a:latin typeface="+mn-lt"/>
              </a:rPr>
              <a:t>5 + 1</a:t>
            </a:r>
            <a:endParaRPr lang="en-US" sz="2800"/>
          </a:p>
        </p:txBody>
      </p:sp>
      <p:sp>
        <p:nvSpPr>
          <p:cNvPr id="109" name="Stat text 2"/>
          <p:cNvSpPr txBox="1"/>
          <p:nvPr/>
        </p:nvSpPr>
        <p:spPr>
          <a:xfrm>
            <a:off x="6479851" y="4568670"/>
            <a:ext cx="2132175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Five periodic threads sleep in NanoSleep; the logger blocks on a condvar.</a:t>
            </a:r>
            <a:endParaRPr lang="en-US" sz="1200"/>
          </a:p>
        </p:txBody>
      </p:sp>
      <p:sp>
        <p:nvSpPr>
          <p:cNvPr id="110" name="Stat card 3"/>
          <p:cNvSpPr/>
          <p:nvPr/>
        </p:nvSpPr>
        <p:spPr>
          <a:xfrm>
            <a:off x="9069225" y="3855438"/>
            <a:ext cx="2497935" cy="1600200"/>
          </a:xfrm>
          <a:prstGeom prst="roundRect">
            <a:avLst>
              <a:gd name="adj" fmla="val 6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11" name="Stat value 3"/>
          <p:cNvSpPr txBox="1"/>
          <p:nvPr/>
        </p:nvSpPr>
        <p:spPr>
          <a:xfrm>
            <a:off x="9252105" y="3965166"/>
            <a:ext cx="21321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FF443A"/>
                </a:solidFill>
                <a:latin typeface="+mn-lt"/>
              </a:rPr>
              <a:t>99.8%</a:t>
            </a:r>
            <a:endParaRPr lang="en-US" sz="2800"/>
          </a:p>
        </p:txBody>
      </p:sp>
      <p:sp>
        <p:nvSpPr>
          <p:cNvPr id="112" name="Stat text 3"/>
          <p:cNvSpPr txBox="1"/>
          <p:nvPr/>
        </p:nvSpPr>
        <p:spPr>
          <a:xfrm>
            <a:off x="9252105" y="4568670"/>
            <a:ext cx="2132175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of CPU time is in the ultrasonic thread (15 m 1 s): busy-wait echo timing.</a:t>
            </a:r>
            <a:endParaRPr lang="en-US" sz="1200"/>
          </a:p>
        </p:txBody>
      </p:sp>
      <p:sp>
        <p:nvSpPr>
          <p:cNvPr id="113" name="Analysis bar"/>
          <p:cNvSpPr/>
          <p:nvPr/>
        </p:nvSpPr>
        <p:spPr>
          <a:xfrm>
            <a:off x="3524716" y="5638518"/>
            <a:ext cx="8042444" cy="640080"/>
          </a:xfrm>
          <a:prstGeom prst="roundRect">
            <a:avLst>
              <a:gd name="adj" fmla="val 12000"/>
            </a:avLst>
          </a:prstGeom>
          <a:solidFill>
            <a:srgbClr val="181C1E"/>
          </a:solidFill>
          <a:ln>
            <a:noFill/>
          </a:ln>
        </p:spPr>
        <p:txBody>
          <a:bodyPr wrap="square" lIns="182880" tIns="45720" rIns="182880" bIns="45720" rtlCol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443A"/>
                </a:solidFill>
                <a:latin typeface="+mn-lt"/>
              </a:rPr>
              <a:t>Analysis: </a:t>
            </a:r>
            <a:r>
              <a:rPr lang="en-US" sz="1200" b="0" i="0">
                <a:solidFill>
                  <a:srgbClr val="FFFFFF"/>
                </a:solidFill>
                <a:latin typeface="+mn-lt"/>
              </a:rPr>
              <a:t>threads sleep between periods instead of spinning, so only echo timing is CPU-bound. Next step: a GPIO edge interrupt.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18206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2E4B-7197-3A3C-E03F-667005095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AC11669-91EA-0309-B693-5A9D14B3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E560B0F-5E1F-099E-862A-D3AB54637B2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/>
              <a:t>Future Scalability &amp; Conclusion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EA6187-0A8F-3277-8574-1CD3CFA4A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US"/>
              <a:t>Demonstration</a:t>
            </a:r>
          </a:p>
        </p:txBody>
      </p:sp>
      <p:sp>
        <p:nvSpPr>
          <p:cNvPr id="101" name="Roadmap card 1"/>
          <p:cNvSpPr/>
          <p:nvPr/>
        </p:nvSpPr>
        <p:spPr>
          <a:xfrm>
            <a:off x="621792" y="1417320"/>
            <a:ext cx="3465576" cy="2240280"/>
          </a:xfrm>
          <a:prstGeom prst="roundRect">
            <a:avLst>
              <a:gd name="adj" fmla="val 5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02" name="Roadmap tag 1"/>
          <p:cNvSpPr/>
          <p:nvPr/>
        </p:nvSpPr>
        <p:spPr>
          <a:xfrm>
            <a:off x="804672" y="1600200"/>
            <a:ext cx="868680" cy="329184"/>
          </a:xfrm>
          <a:prstGeom prst="roundRect">
            <a:avLst>
              <a:gd name="adj" fmla="val 30000"/>
            </a:avLst>
          </a:prstGeom>
          <a:solidFill>
            <a:srgbClr val="181C1E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+mn-lt"/>
              </a:rPr>
              <a:t>NOW</a:t>
            </a:r>
            <a:endParaRPr lang="en-US" sz="1200"/>
          </a:p>
        </p:txBody>
      </p:sp>
      <p:sp>
        <p:nvSpPr>
          <p:cNvPr id="103" name="Roadmap title 1"/>
          <p:cNvSpPr txBox="1"/>
          <p:nvPr/>
        </p:nvSpPr>
        <p:spPr>
          <a:xfrm>
            <a:off x="1810512" y="1600200"/>
            <a:ext cx="213969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Working prototype</a:t>
            </a:r>
            <a:endParaRPr lang="en-US" sz="1400"/>
          </a:p>
        </p:txBody>
      </p:sp>
      <p:sp>
        <p:nvSpPr>
          <p:cNvPr id="104" name="Roadmap bullets 1"/>
          <p:cNvSpPr txBox="1"/>
          <p:nvPr/>
        </p:nvSpPr>
        <p:spPr>
          <a:xfrm>
            <a:off x="804672" y="2103120"/>
            <a:ext cx="3099816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443A"/>
              </a:buClr>
              <a:buFont typeface="Arial"/>
              <a:buChar char="•"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IR + ultrasonic fusion on RPi 4</a:t>
            </a:r>
            <a:endParaRPr lang="en-US" sz="1200"/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443A"/>
              </a:buClr>
              <a:buFont typeface="Arial"/>
              <a:buChar char="•"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6 pthreads, mutex, condvar logger</a:t>
            </a:r>
            <a:endParaRPr lang="en-US" sz="1200"/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443A"/>
              </a:buClr>
              <a:buFont typeface="Arial"/>
              <a:buChar char="•"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Watchdog, DEGRADED mode, warning LED</a:t>
            </a:r>
            <a:endParaRPr lang="en-US" sz="1200"/>
          </a:p>
        </p:txBody>
      </p:sp>
      <p:cxnSp>
        <p:nvCxnSpPr>
          <p:cNvPr id="105" name="Roadmap arrow 1"/>
          <p:cNvCxnSpPr/>
          <p:nvPr/>
        </p:nvCxnSpPr>
        <p:spPr>
          <a:xfrm>
            <a:off x="4114800" y="2651760"/>
            <a:ext cx="219456" cy="0"/>
          </a:xfrm>
          <a:prstGeom prst="straightConnector1">
            <a:avLst/>
          </a:prstGeom>
          <a:ln w="25400">
            <a:solidFill>
              <a:srgbClr val="FF443A"/>
            </a:solidFill>
            <a:tailEnd type="triangle" w="med" len="med"/>
          </a:ln>
        </p:spPr>
      </p:cxnSp>
      <p:sp>
        <p:nvSpPr>
          <p:cNvPr id="106" name="Roadmap card 2"/>
          <p:cNvSpPr/>
          <p:nvPr/>
        </p:nvSpPr>
        <p:spPr>
          <a:xfrm>
            <a:off x="4361688" y="1417320"/>
            <a:ext cx="3465576" cy="2240280"/>
          </a:xfrm>
          <a:prstGeom prst="roundRect">
            <a:avLst>
              <a:gd name="adj" fmla="val 5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07" name="Roadmap tag 2"/>
          <p:cNvSpPr/>
          <p:nvPr/>
        </p:nvSpPr>
        <p:spPr>
          <a:xfrm>
            <a:off x="4544568" y="1600200"/>
            <a:ext cx="868680" cy="329184"/>
          </a:xfrm>
          <a:prstGeom prst="roundRect">
            <a:avLst>
              <a:gd name="adj" fmla="val 30000"/>
            </a:avLst>
          </a:prstGeom>
          <a:solidFill>
            <a:srgbClr val="FF443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+mn-lt"/>
              </a:rPr>
              <a:t>NEXT</a:t>
            </a:r>
            <a:endParaRPr lang="en-US" sz="1200"/>
          </a:p>
        </p:txBody>
      </p:sp>
      <p:sp>
        <p:nvSpPr>
          <p:cNvPr id="108" name="Roadmap title 2"/>
          <p:cNvSpPr txBox="1"/>
          <p:nvPr/>
        </p:nvSpPr>
        <p:spPr>
          <a:xfrm>
            <a:off x="5550408" y="1600200"/>
            <a:ext cx="213969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RTOS hardening</a:t>
            </a:r>
            <a:endParaRPr lang="en-US" sz="1400"/>
          </a:p>
        </p:txBody>
      </p:sp>
      <p:sp>
        <p:nvSpPr>
          <p:cNvPr id="109" name="Roadmap bullets 2"/>
          <p:cNvSpPr txBox="1"/>
          <p:nvPr/>
        </p:nvSpPr>
        <p:spPr>
          <a:xfrm>
            <a:off x="4544568" y="2103120"/>
            <a:ext cx="3099816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443A"/>
              </a:buClr>
              <a:buFont typeface="Arial"/>
              <a:buChar char="•"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SCHED_FIFO priorities, priority-inheritance mutexes</a:t>
            </a:r>
            <a:endParaRPr lang="en-US" sz="1200"/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443A"/>
              </a:buClr>
              <a:buFont typeface="Arial"/>
              <a:buChar char="•"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CPU affinity on RPi 4 cores</a:t>
            </a:r>
            <a:endParaRPr lang="en-US" sz="1200"/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443A"/>
              </a:buClr>
              <a:buFont typeface="Arial"/>
              <a:buChar char="•"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GPIO edge interrupts replace busy-wait</a:t>
            </a:r>
            <a:endParaRPr lang="en-US" sz="1200"/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443A"/>
              </a:buClr>
              <a:buFont typeface="Arial"/>
              <a:buChar char="•"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HAM restarts a failed sensor service</a:t>
            </a:r>
            <a:endParaRPr lang="en-US" sz="1200"/>
          </a:p>
        </p:txBody>
      </p:sp>
      <p:cxnSp>
        <p:nvCxnSpPr>
          <p:cNvPr id="110" name="Roadmap arrow 2"/>
          <p:cNvCxnSpPr/>
          <p:nvPr/>
        </p:nvCxnSpPr>
        <p:spPr>
          <a:xfrm>
            <a:off x="7854696" y="2651760"/>
            <a:ext cx="219456" cy="0"/>
          </a:xfrm>
          <a:prstGeom prst="straightConnector1">
            <a:avLst/>
          </a:prstGeom>
          <a:ln w="25400">
            <a:solidFill>
              <a:srgbClr val="FF443A"/>
            </a:solidFill>
            <a:tailEnd type="triangle" w="med" len="med"/>
          </a:ln>
        </p:spPr>
      </p:cxnSp>
      <p:sp>
        <p:nvSpPr>
          <p:cNvPr id="111" name="Roadmap card 3"/>
          <p:cNvSpPr/>
          <p:nvPr/>
        </p:nvSpPr>
        <p:spPr>
          <a:xfrm>
            <a:off x="8101584" y="1417320"/>
            <a:ext cx="3465576" cy="2240280"/>
          </a:xfrm>
          <a:prstGeom prst="roundRect">
            <a:avLst>
              <a:gd name="adj" fmla="val 5000"/>
            </a:avLst>
          </a:prstGeom>
          <a:solidFill>
            <a:srgbClr val="F4EBE1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12" name="Roadmap tag 3"/>
          <p:cNvSpPr/>
          <p:nvPr/>
        </p:nvSpPr>
        <p:spPr>
          <a:xfrm>
            <a:off x="8284464" y="1600200"/>
            <a:ext cx="868680" cy="329184"/>
          </a:xfrm>
          <a:prstGeom prst="roundRect">
            <a:avLst>
              <a:gd name="adj" fmla="val 30000"/>
            </a:avLst>
          </a:prstGeom>
          <a:solidFill>
            <a:srgbClr val="5E5D5A"/>
          </a:solidFill>
          <a:ln>
            <a:noFill/>
          </a:ln>
        </p:spPr>
        <p:txBody>
          <a:bodyPr wrap="square" lIns="18288" tIns="18288" rIns="18288" bIns="18288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+mn-lt"/>
              </a:rPr>
              <a:t>LATER</a:t>
            </a:r>
            <a:endParaRPr lang="en-US" sz="1200"/>
          </a:p>
        </p:txBody>
      </p:sp>
      <p:sp>
        <p:nvSpPr>
          <p:cNvPr id="113" name="Roadmap title 3"/>
          <p:cNvSpPr txBox="1"/>
          <p:nvPr/>
        </p:nvSpPr>
        <p:spPr>
          <a:xfrm>
            <a:off x="9290304" y="1600200"/>
            <a:ext cx="213969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181C1E"/>
                </a:solidFill>
                <a:latin typeface="+mn-lt"/>
              </a:rPr>
              <a:t>Automotive grade</a:t>
            </a:r>
            <a:endParaRPr lang="en-US" sz="1400"/>
          </a:p>
        </p:txBody>
      </p:sp>
      <p:sp>
        <p:nvSpPr>
          <p:cNvPr id="114" name="Roadmap bullets 3"/>
          <p:cNvSpPr txBox="1"/>
          <p:nvPr/>
        </p:nvSpPr>
        <p:spPr>
          <a:xfrm>
            <a:off x="8284464" y="2103120"/>
            <a:ext cx="3099816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443A"/>
              </a:buClr>
              <a:buFont typeface="Arial"/>
              <a:buChar char="•"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Sensors as separate processes with QNX message passing</a:t>
            </a:r>
            <a:endParaRPr lang="en-US" sz="1200"/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443A"/>
              </a:buClr>
              <a:buFont typeface="Arial"/>
              <a:buChar char="•"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Camera + radar with confidence-weighted fusion</a:t>
            </a:r>
            <a:endParaRPr lang="en-US" sz="1200"/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F443A"/>
              </a:buClr>
              <a:buFont typeface="Arial"/>
              <a:buChar char="•"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ISO 26262 path with QNX OS for Safety</a:t>
            </a:r>
            <a:endParaRPr lang="en-US" sz="1200"/>
          </a:p>
        </p:txBody>
      </p:sp>
      <p:sp>
        <p:nvSpPr>
          <p:cNvPr id="115" name="Learning card"/>
          <p:cNvSpPr/>
          <p:nvPr/>
        </p:nvSpPr>
        <p:spPr>
          <a:xfrm>
            <a:off x="621792" y="3931920"/>
            <a:ext cx="58978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4CC"/>
            </a:solidFill>
          </a:ln>
          <a:effectLst>
            <a:outerShdw blurRad="76200" dist="25400" dir="5400000" algn="t" rotWithShape="0">
              <a:srgbClr val="000000">
                <a:alpha val="16000"/>
              </a:srgbClr>
            </a:outerShdw>
          </a:effectLst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16" name="Learning heading"/>
          <p:cNvSpPr txBox="1"/>
          <p:nvPr/>
        </p:nvSpPr>
        <p:spPr>
          <a:xfrm>
            <a:off x="868680" y="42062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>
                <a:solidFill>
                  <a:srgbClr val="181C1E"/>
                </a:solidFill>
                <a:latin typeface="+mn-lt"/>
              </a:rPr>
              <a:t>Learning outcome</a:t>
            </a:r>
            <a:endParaRPr lang="en-US" sz="1500"/>
          </a:p>
        </p:txBody>
      </p:sp>
      <p:sp>
        <p:nvSpPr>
          <p:cNvPr id="117" name="Learning bullets"/>
          <p:cNvSpPr txBox="1"/>
          <p:nvPr/>
        </p:nvSpPr>
        <p:spPr>
          <a:xfrm>
            <a:off x="868680" y="4663440"/>
            <a:ext cx="544068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FF443A"/>
              </a:buClr>
              <a:buFont typeface="Arial"/>
              <a:buChar char="•"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Static scene or stuck sensor? Constant readings can be valid, so we log a suspicion and degrade only on hard faults.</a:t>
            </a:r>
            <a:endParaRPr lang="en-US" sz="1200"/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FF443A"/>
              </a:buClr>
              <a:buFont typeface="Arial"/>
              <a:buChar char="•"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Slow file I/O must never block a time-critical thread: condvar queue plus a dedicated logger.</a:t>
            </a:r>
            <a:endParaRPr lang="en-US" sz="1200"/>
          </a:p>
          <a:p>
            <a:pPr marL="17145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43A"/>
              </a:buClr>
              <a:buFont typeface="Arial"/>
              <a:buChar char="•"/>
            </a:pPr>
            <a:r>
              <a:rPr lang="en-US" sz="1200" b="0" i="0">
                <a:solidFill>
                  <a:srgbClr val="181C1E"/>
                </a:solidFill>
                <a:latin typeface="+mn-lt"/>
              </a:rPr>
              <a:t>The profiler exposed busy-wait echo timing as the CPU hot spot.</a:t>
            </a:r>
            <a:endParaRPr lang="en-US" sz="1200"/>
          </a:p>
        </p:txBody>
      </p:sp>
      <p:sp>
        <p:nvSpPr>
          <p:cNvPr id="118" name="Closing panel"/>
          <p:cNvSpPr/>
          <p:nvPr/>
        </p:nvSpPr>
        <p:spPr>
          <a:xfrm>
            <a:off x="6766560" y="3931920"/>
            <a:ext cx="4800600" cy="2377440"/>
          </a:xfrm>
          <a:prstGeom prst="roundRect">
            <a:avLst>
              <a:gd name="adj" fmla="val 4000"/>
            </a:avLst>
          </a:prstGeom>
          <a:solidFill>
            <a:srgbClr val="181C1E"/>
          </a:solidFill>
          <a:ln>
            <a:noFill/>
          </a:ln>
        </p:spPr>
        <p:txBody>
          <a:bodyPr wrap="square" lIns="109728" tIns="54864" rIns="109728" bIns="54864" rtlCol="0" anchor="ctr">
            <a:noAutofit/>
          </a:bodyPr>
          <a:lstStyle/>
          <a:p>
            <a:endParaRPr lang="en-US"/>
          </a:p>
        </p:txBody>
      </p:sp>
      <p:sp>
        <p:nvSpPr>
          <p:cNvPr id="119" name="Closing label"/>
          <p:cNvSpPr txBox="1"/>
          <p:nvPr/>
        </p:nvSpPr>
        <p:spPr>
          <a:xfrm>
            <a:off x="7086600" y="425196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F443A"/>
                </a:solidFill>
                <a:latin typeface="+mn-lt"/>
              </a:rPr>
              <a:t>CLOSING STATEMENT</a:t>
            </a:r>
            <a:endParaRPr lang="en-US" sz="1100"/>
          </a:p>
        </p:txBody>
      </p:sp>
      <p:sp>
        <p:nvSpPr>
          <p:cNvPr id="120" name="Closing text"/>
          <p:cNvSpPr txBox="1"/>
          <p:nvPr/>
        </p:nvSpPr>
        <p:spPr>
          <a:xfrm>
            <a:off x="7086600" y="4617720"/>
            <a:ext cx="4206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>
                <a:solidFill>
                  <a:srgbClr val="FFFFFF"/>
                </a:solidFill>
                <a:latin typeface="+mn-lt"/>
              </a:rPr>
              <a:t>A vehicle that knows when it cannot trust its sensors.</a:t>
            </a:r>
            <a:endParaRPr lang="en-US" sz="2200"/>
          </a:p>
        </p:txBody>
      </p:sp>
      <p:sp>
        <p:nvSpPr>
          <p:cNvPr id="121" name="Closing sub"/>
          <p:cNvSpPr txBox="1"/>
          <p:nvPr/>
        </p:nvSpPr>
        <p:spPr>
          <a:xfrm>
            <a:off x="7086600" y="576072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rgbClr val="CFCAC2"/>
                </a:solidFill>
                <a:latin typeface="+mn-lt"/>
              </a:rPr>
              <a:t>Deterministic detection. Graceful degradation. Built on QNX.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450838069"/>
      </p:ext>
    </p:extLst>
  </p:cSld>
  <p:clrMapOvr>
    <a:masterClrMapping/>
  </p:clrMapOvr>
</p:sld>
</file>

<file path=ppt/theme/theme1.xml><?xml version="1.0" encoding="utf-8"?>
<a:theme xmlns:a="http://schemas.openxmlformats.org/drawingml/2006/main" name="QNX | Light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Sand">
      <a:srgbClr val="F4EBE1"/>
    </a:custClr>
    <a:custClr name="Light Sand">
      <a:srgbClr val="FBF8F4"/>
    </a:custClr>
    <a:custClr name="-">
      <a:srgbClr val="FFFFFF"/>
    </a:custClr>
    <a:custClr name="Gray 1">
      <a:srgbClr val="C0C0BB"/>
    </a:custClr>
    <a:custClr name="Gray 2">
      <a:srgbClr val="8F8F8B"/>
    </a:custClr>
    <a:custClr name="Gray 3">
      <a:srgbClr val="5E5D5A"/>
    </a:custClr>
    <a:custClr name="-">
      <a:srgbClr val="FFFFFF"/>
    </a:custClr>
    <a:custClr name="Energizer Purple">
      <a:srgbClr val="8C62FF"/>
    </a:custClr>
    <a:custClr name="-">
      <a:srgbClr val="FFFFFF"/>
    </a:custClr>
    <a:custClr name="-">
      <a:srgbClr val="FFFFFF"/>
    </a:custClr>
    <a:custClr name="Sand - Dark">
      <a:srgbClr val="232729"/>
    </a:custClr>
    <a:custClr name="Light Sand - Dark">
      <a:srgbClr val="2C3032"/>
    </a:custClr>
    <a:custClr name="-">
      <a:srgbClr val="FFFFFF"/>
    </a:custClr>
    <a:custClr name="Light Coral 1">
      <a:srgbClr val="FEDBD0"/>
    </a:custClr>
    <a:custClr name="Light Coral 2">
      <a:srgbClr val="FFB29D"/>
    </a:custClr>
    <a:custClr name="Light Coral 3">
      <a:srgbClr val="FF806B"/>
    </a:custClr>
    <a:custClr name="-">
      <a:srgbClr val="FFFFFF"/>
    </a:custClr>
    <a:custClr name="Status Red - Loss">
      <a:srgbClr val="E4203C"/>
    </a:custClr>
    <a:custClr name="Status Orange - Neutral">
      <a:srgbClr val="FFBE5B"/>
    </a:custClr>
    <a:custClr name="Status Green - Gain">
      <a:srgbClr val="06CA5F"/>
    </a:custClr>
  </a:custClrLst>
  <a:extLst>
    <a:ext uri="{05A4C25C-085E-4340-85A3-A5531E510DB2}">
      <thm15:themeFamily xmlns:thm15="http://schemas.microsoft.com/office/thememl/2012/main" name="K16_QNX_PPT_Master_2026_V03.potx" id="{00A498C5-A42D-4DFA-95B8-06777FDB4777}" vid="{191C710F-D422-4B8C-9A81-2A40F20F48DE}"/>
    </a:ext>
  </a:extLst>
</a:theme>
</file>

<file path=ppt/theme/theme2.xml><?xml version="1.0" encoding="utf-8"?>
<a:theme xmlns:a="http://schemas.openxmlformats.org/drawingml/2006/main" name="QNX | Dark">
  <a:themeElements>
    <a:clrScheme name="QNX Dark">
      <a:dk1>
        <a:srgbClr val="FFFFFF"/>
      </a:dk1>
      <a:lt1>
        <a:srgbClr val="181C1E"/>
      </a:lt1>
      <a:dk2>
        <a:srgbClr val="232729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Sand">
      <a:srgbClr val="F4EBE1"/>
    </a:custClr>
    <a:custClr name="Light Sand">
      <a:srgbClr val="FBF8F4"/>
    </a:custClr>
    <a:custClr name="-">
      <a:srgbClr val="FFFFFF"/>
    </a:custClr>
    <a:custClr name="Gray 1">
      <a:srgbClr val="C0C0BB"/>
    </a:custClr>
    <a:custClr name="Gray 2">
      <a:srgbClr val="8F8F8B"/>
    </a:custClr>
    <a:custClr name="Gray 3">
      <a:srgbClr val="5E5D5A"/>
    </a:custClr>
    <a:custClr name="-">
      <a:srgbClr val="FFFFFF"/>
    </a:custClr>
    <a:custClr name="Energizer Purple">
      <a:srgbClr val="8C62FF"/>
    </a:custClr>
    <a:custClr name="-">
      <a:srgbClr val="FFFFFF"/>
    </a:custClr>
    <a:custClr name="-">
      <a:srgbClr val="FFFFFF"/>
    </a:custClr>
    <a:custClr name="Sand - Dark">
      <a:srgbClr val="232729"/>
    </a:custClr>
    <a:custClr name="Light Sand - Dark">
      <a:srgbClr val="2C3032"/>
    </a:custClr>
    <a:custClr name="-">
      <a:srgbClr val="FFFFFF"/>
    </a:custClr>
    <a:custClr name="Light Coral 1">
      <a:srgbClr val="FEDBD0"/>
    </a:custClr>
    <a:custClr name="Light Coral 2">
      <a:srgbClr val="FFB29D"/>
    </a:custClr>
    <a:custClr name="Light Coral 3">
      <a:srgbClr val="FF806B"/>
    </a:custClr>
    <a:custClr name="-">
      <a:srgbClr val="FFFFFF"/>
    </a:custClr>
    <a:custClr name="Status Red - Loss">
      <a:srgbClr val="E4203C"/>
    </a:custClr>
    <a:custClr name="Status Orange - Neutral">
      <a:srgbClr val="FFBE5B"/>
    </a:custClr>
    <a:custClr name="Status Green - Gain">
      <a:srgbClr val="06CA5F"/>
    </a:custClr>
  </a:custClrLst>
  <a:extLst>
    <a:ext uri="{05A4C25C-085E-4340-85A3-A5531E510DB2}">
      <thm15:themeFamily xmlns:thm15="http://schemas.microsoft.com/office/thememl/2012/main" name="K16_QNX_PPT_Master_2026_V03.potx" id="{00A498C5-A42D-4DFA-95B8-06777FDB4777}" vid="{0B09E0BA-3578-4178-9FA4-24CF5A7153F7}"/>
    </a:ext>
  </a:extLst>
</a:theme>
</file>

<file path=ppt/theme/theme3.xml><?xml version="1.0" encoding="utf-8"?>
<a:theme xmlns:a="http://schemas.openxmlformats.org/drawingml/2006/main" name="Office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15C3AF597C064C8EACF7750A706AA1" ma:contentTypeVersion="14" ma:contentTypeDescription="Create a new document." ma:contentTypeScope="" ma:versionID="cd31ca2f014878da71db5851bb8335d6">
  <xsd:schema xmlns:xsd="http://www.w3.org/2001/XMLSchema" xmlns:xs="http://www.w3.org/2001/XMLSchema" xmlns:p="http://schemas.microsoft.com/office/2006/metadata/properties" xmlns:ns2="74d07cac-c1cc-4baf-be88-9058bb44268e" xmlns:ns3="0b5c48a3-1058-4d9c-8878-41c52406cd7e" targetNamespace="http://schemas.microsoft.com/office/2006/metadata/properties" ma:root="true" ma:fieldsID="88b2ae059b7f33d05a05ea6f6b017691" ns2:_="" ns3:_="">
    <xsd:import namespace="74d07cac-c1cc-4baf-be88-9058bb44268e"/>
    <xsd:import namespace="0b5c48a3-1058-4d9c-8878-41c52406cd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07cac-c1cc-4baf-be88-9058bb4426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efbd4aa-c6d2-4b2d-b985-fe2a529cec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5c48a3-1058-4d9c-8878-41c52406cd7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7d58ce0-b206-49ce-abeb-3aa62a3aba60}" ma:internalName="TaxCatchAll" ma:showField="CatchAllData" ma:web="0b5c48a3-1058-4d9c-8878-41c52406cd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b5c48a3-1058-4d9c-8878-41c52406cd7e" xsi:nil="true"/>
    <lcf76f155ced4ddcb4097134ff3c332f xmlns="74d07cac-c1cc-4baf-be88-9058bb44268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F71049C-BB68-45C5-8689-81436DCA4406}">
  <ds:schemaRefs>
    <ds:schemaRef ds:uri="0b5c48a3-1058-4d9c-8878-41c52406cd7e"/>
    <ds:schemaRef ds:uri="74d07cac-c1cc-4baf-be88-9058bb4426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1C58F7-F9BC-44EA-BC5B-345288656F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BF049E-CC88-4DF7-A165-CA575467262C}">
  <ds:schemaRefs>
    <ds:schemaRef ds:uri="0b5c48a3-1058-4d9c-8878-41c52406cd7e"/>
    <ds:schemaRef ds:uri="74d07cac-c1cc-4baf-be88-9058bb4426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K16_QNX_PPT_Master_2026_V03</Template>
  <Application>Microsoft Office PowerPoint</Application>
  <PresentationFormat>Widescreen</PresentationFormat>
  <Slides>7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QNX | Light</vt:lpstr>
      <vt:lpstr>QNX | Dark</vt:lpstr>
      <vt:lpstr>Fault-Tolerant ADAS Sensor Fusion</vt:lpstr>
      <vt:lpstr>Problem Synthesis &amp; Scenario</vt:lpstr>
      <vt:lpstr>QNX Architectural Approach</vt:lpstr>
      <vt:lpstr>Technical Execution (Hardware &amp; Logic)</vt:lpstr>
      <vt:lpstr>Resilience &amp; Degraded-Mode Response</vt:lpstr>
      <vt:lpstr>Performance Proof (The Profiler Slide)</vt:lpstr>
      <vt:lpstr>Future Scalability &amp; Conclusion</vt:lpstr>
    </vt:vector>
  </TitlesOfParts>
  <Company>BlackBerry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jharley@qnx.com</dc:creator>
  <dc:description>Optimized for MS Office 365</dc:description>
  <cp:revision>3</cp:revision>
  <dcterms:created xsi:type="dcterms:W3CDTF">2026-03-27T14:44:28Z</dcterms:created>
  <dcterms:modified xsi:type="dcterms:W3CDTF">2026-10-09T21:10:46Z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0x0101004815C3AF597C064C8EACF7750A706AA1</vt:lpwstr>
  </property>
  <property fmtid="{D5CDD505-2E9C-101B-9397-08002B2CF9AE}" pid="3" name="MediaServiceImageTags">
    <vt:lpwstr/>
  </property>
</Properties>
</file>